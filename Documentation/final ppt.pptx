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2"/>
  </p:notesMasterIdLst>
  <p:sldIdLst>
    <p:sldId id="263" r:id="rId5"/>
    <p:sldId id="258" r:id="rId6"/>
    <p:sldId id="264" r:id="rId7"/>
    <p:sldId id="260" r:id="rId8"/>
    <p:sldId id="265" r:id="rId9"/>
    <p:sldId id="262"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3AA7C"/>
    <a:srgbClr val="66FF33"/>
    <a:srgbClr val="599D79"/>
    <a:srgbClr val="C931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662C1D-16AF-4347-B967-4CC7E5B02A4B}" v="176" dt="2026-01-19T16:22:37.1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5" d="100"/>
          <a:sy n="75" d="100"/>
        </p:scale>
        <p:origin x="25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DD41B-33B1-49BD-9BEF-7DA6DB2E4C74}" type="datetimeFigureOut">
              <a:rPr lang="en-IN" smtClean="0"/>
              <a:t>19-01-2026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73E8FA-13D0-480F-9FCA-3D4D93939261}" type="slidenum">
              <a:rPr lang="en-IN" smtClean="0"/>
              <a:t>‹#›</a:t>
            </a:fld>
            <a:endParaRPr lang="en-IN"/>
          </a:p>
        </p:txBody>
      </p:sp>
    </p:spTree>
    <p:extLst>
      <p:ext uri="{BB962C8B-B14F-4D97-AF65-F5344CB8AC3E}">
        <p14:creationId xmlns:p14="http://schemas.microsoft.com/office/powerpoint/2010/main" val="2169069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373E8FA-13D0-480F-9FCA-3D4D93939261}" type="slidenum">
              <a:rPr lang="en-IN" smtClean="0"/>
              <a:t>3</a:t>
            </a:fld>
            <a:endParaRPr lang="en-IN"/>
          </a:p>
        </p:txBody>
      </p:sp>
    </p:spTree>
    <p:extLst>
      <p:ext uri="{BB962C8B-B14F-4D97-AF65-F5344CB8AC3E}">
        <p14:creationId xmlns:p14="http://schemas.microsoft.com/office/powerpoint/2010/main" val="14713331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BC42-62D6-47DF-F9C0-7388DF0A25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95A787F-3FA1-73B4-420D-C860B03EAE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9E27931-EC23-4699-6F26-E80426C91689}"/>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2022AF4D-59C3-6956-B062-5611F71844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46639-A7C6-DBC2-E2F7-B034EE122384}"/>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3304279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1FB4F-A120-35CB-E8BD-1B0A3BEB32F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7AB564F-B37F-CFDA-9695-3BF355E6F7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E4E5BA-3EB0-0C3F-202C-50440EF0FF2B}"/>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F7403285-10D2-3058-FD6E-2336F4D254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25F74A-8244-B165-E956-62846A7DA6D0}"/>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10889399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35DA7-C21E-AB82-E50F-9EBDCC5D2D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1D426C-5DFC-20FD-FFDD-ABF3B1D328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37ACE1-5BF7-B4A9-155F-7F5C00317D93}"/>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EAC59151-C7C9-A117-86B5-91018DBD1C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9BEFBF-704B-B14D-AE3B-4707B71FF294}"/>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1668457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24586-505C-78C6-F388-6DF268243E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347CE7-3A35-4103-805E-B7C3F39D1B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DC25C3D-DF7A-D3D9-B5B4-C2B6FFB174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B706401-D29D-EFC1-B148-8F471939764A}"/>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6" name="Footer Placeholder 5">
            <a:extLst>
              <a:ext uri="{FF2B5EF4-FFF2-40B4-BE49-F238E27FC236}">
                <a16:creationId xmlns:a16="http://schemas.microsoft.com/office/drawing/2014/main" id="{0B9AE30C-0CC9-33F6-87CE-E1B7D84A89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44D2F2-6E2F-6559-4B78-2608E2E98FB6}"/>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727521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EA889-12FB-F7DB-F114-737E4246E6C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8D18700-309E-12E8-A32C-D59F4808FD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6F4BCA-CFFC-3E86-9307-4C3E078808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AF4303-EF7D-B9F1-89B9-E264F68B78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5D2E7B-FFF1-BE1A-8B14-2A43107A6E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2CCC875-CC48-9ABF-B338-A0A2029FC547}"/>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8" name="Footer Placeholder 7">
            <a:extLst>
              <a:ext uri="{FF2B5EF4-FFF2-40B4-BE49-F238E27FC236}">
                <a16:creationId xmlns:a16="http://schemas.microsoft.com/office/drawing/2014/main" id="{474A6649-A764-81A5-09FE-38332A8DE1B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193083-229E-9318-7100-4C92B2F6AAEB}"/>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210588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16DE1-36BD-EF65-330F-A0D77A24D08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7A87F10-A8DB-B42E-04C9-213A4E03E4A2}"/>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4" name="Footer Placeholder 3">
            <a:extLst>
              <a:ext uri="{FF2B5EF4-FFF2-40B4-BE49-F238E27FC236}">
                <a16:creationId xmlns:a16="http://schemas.microsoft.com/office/drawing/2014/main" id="{2D162BDB-2B11-E9D5-2826-3C906B3888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CA501A-1154-7CA6-F8A3-A57FB7D64F57}"/>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2012181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6B42E4-13BB-4EC3-ED36-7E53FA1CF84A}"/>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3" name="Footer Placeholder 2">
            <a:extLst>
              <a:ext uri="{FF2B5EF4-FFF2-40B4-BE49-F238E27FC236}">
                <a16:creationId xmlns:a16="http://schemas.microsoft.com/office/drawing/2014/main" id="{C5D3CF09-54BD-144D-063C-52681FFC92F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E86F1E9-2705-5A51-74D0-733FCBB1D01E}"/>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3605783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D108-ED02-ED2D-0E69-F03432C40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1CD7AF9-A4D8-DDBA-DEBB-C4C1824AD7E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97B947E-9386-4BE0-761C-2239D22C6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AA9836-318E-756C-296D-A8A7A711CC4F}"/>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6" name="Footer Placeholder 5">
            <a:extLst>
              <a:ext uri="{FF2B5EF4-FFF2-40B4-BE49-F238E27FC236}">
                <a16:creationId xmlns:a16="http://schemas.microsoft.com/office/drawing/2014/main" id="{A38BC168-0D14-7E5A-118D-DD5BBCC780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654D0A-DCFC-ABD8-ED0A-2903B27CB160}"/>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2511378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8A71-B6F2-FA6C-79CC-EB3C395AEF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B146CE-A8FA-F5C0-4D9C-3B80082AFD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C6C22A1-3514-C5B6-470B-91F8D38B6B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6D01FA-2596-ECF1-85A4-8387CA63B552}"/>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6" name="Footer Placeholder 5">
            <a:extLst>
              <a:ext uri="{FF2B5EF4-FFF2-40B4-BE49-F238E27FC236}">
                <a16:creationId xmlns:a16="http://schemas.microsoft.com/office/drawing/2014/main" id="{5183222E-A3F2-398D-B8A7-331B874DA9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758EB67-0554-2309-C9BE-E62D8D7892EE}"/>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112762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872F2-F389-57F4-FC0D-BA5E23FA08E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B56662-9919-CD77-147F-7B6BEE4A28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79FDAB-D86F-23B8-51E2-A93B100056C4}"/>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DC29A270-9D5B-2E1D-3E18-E6D09207FD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31C27B-25E5-88B7-BEA2-56BE5CB7E354}"/>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4254450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BB1ECC-51F7-D19E-D0D0-60052AFD20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F387D81-09FC-4D0C-C9CC-EF7BA6EF6D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4436E1-87D7-4A22-8B09-62395B0B8D1F}"/>
              </a:ext>
            </a:extLst>
          </p:cNvPr>
          <p:cNvSpPr>
            <a:spLocks noGrp="1"/>
          </p:cNvSpPr>
          <p:nvPr>
            <p:ph type="dt" sz="half" idx="10"/>
          </p:nvPr>
        </p:nvSpPr>
        <p:spPr/>
        <p:txBody>
          <a:body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ED6453D7-051E-5E19-BF55-B73C823124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4E5D300-F869-6BCC-785E-491552A89F7C}"/>
              </a:ext>
            </a:extLst>
          </p:cNvPr>
          <p:cNvSpPr>
            <a:spLocks noGrp="1"/>
          </p:cNvSpPr>
          <p:nvPr>
            <p:ph type="sldNum" sz="quarter" idx="12"/>
          </p:nvPr>
        </p:nvSpPr>
        <p:spPr/>
        <p:txBody>
          <a:bodyPr/>
          <a:lstStyle/>
          <a:p>
            <a:fld id="{0EA09EAC-B8C6-468D-8136-0FD6EDFE3911}" type="slidenum">
              <a:rPr lang="en-IN" smtClean="0"/>
              <a:t>‹#›</a:t>
            </a:fld>
            <a:endParaRPr lang="en-IN"/>
          </a:p>
        </p:txBody>
      </p:sp>
    </p:spTree>
    <p:extLst>
      <p:ext uri="{BB962C8B-B14F-4D97-AF65-F5344CB8AC3E}">
        <p14:creationId xmlns:p14="http://schemas.microsoft.com/office/powerpoint/2010/main" val="47915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C0DF92-AF51-6D5C-A150-3949A72B4F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2FD5E1-1FC7-E1DC-41BB-D8B13AFE09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11B7614-5DA0-346A-3103-1D9FA2D80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1C3D9F-481A-437C-A1DE-32DC76D85AC8}" type="datetimeFigureOut">
              <a:rPr lang="en-IN" smtClean="0"/>
              <a:t>19-01-2026</a:t>
            </a:fld>
            <a:endParaRPr lang="en-IN"/>
          </a:p>
        </p:txBody>
      </p:sp>
      <p:sp>
        <p:nvSpPr>
          <p:cNvPr id="5" name="Footer Placeholder 4">
            <a:extLst>
              <a:ext uri="{FF2B5EF4-FFF2-40B4-BE49-F238E27FC236}">
                <a16:creationId xmlns:a16="http://schemas.microsoft.com/office/drawing/2014/main" id="{5A941302-1636-78D9-D856-73E80965C9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EB1E5C2-1BCF-ED06-263C-3D658BC9D4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A09EAC-B8C6-468D-8136-0FD6EDFE3911}" type="slidenum">
              <a:rPr lang="en-IN" smtClean="0"/>
              <a:t>‹#›</a:t>
            </a:fld>
            <a:endParaRPr lang="en-IN"/>
          </a:p>
        </p:txBody>
      </p:sp>
    </p:spTree>
    <p:extLst>
      <p:ext uri="{BB962C8B-B14F-4D97-AF65-F5344CB8AC3E}">
        <p14:creationId xmlns:p14="http://schemas.microsoft.com/office/powerpoint/2010/main" val="3104886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10.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2.svg"/><Relationship Id="rId10" Type="http://schemas.openxmlformats.org/officeDocument/2006/relationships/image" Target="../media/image15.png"/><Relationship Id="rId4" Type="http://schemas.openxmlformats.org/officeDocument/2006/relationships/image" Target="../media/image1.png"/><Relationship Id="rId9" Type="http://schemas.openxmlformats.org/officeDocument/2006/relationships/image" Target="../media/image1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18" Type="http://schemas.openxmlformats.org/officeDocument/2006/relationships/image" Target="../media/image34.svg"/><Relationship Id="rId3" Type="http://schemas.openxmlformats.org/officeDocument/2006/relationships/image" Target="../media/image2.svg"/><Relationship Id="rId7" Type="http://schemas.openxmlformats.org/officeDocument/2006/relationships/image" Target="../media/image23.svg"/><Relationship Id="rId12" Type="http://schemas.openxmlformats.org/officeDocument/2006/relationships/image" Target="../media/image28.svg"/><Relationship Id="rId17" Type="http://schemas.openxmlformats.org/officeDocument/2006/relationships/image" Target="../media/image33.png"/><Relationship Id="rId2" Type="http://schemas.openxmlformats.org/officeDocument/2006/relationships/image" Target="../media/image1.png"/><Relationship Id="rId16" Type="http://schemas.openxmlformats.org/officeDocument/2006/relationships/image" Target="../media/image32.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5" Type="http://schemas.openxmlformats.org/officeDocument/2006/relationships/image" Target="../media/image31.png"/><Relationship Id="rId10" Type="http://schemas.openxmlformats.org/officeDocument/2006/relationships/image" Target="../media/image26.svg"/><Relationship Id="rId4" Type="http://schemas.openxmlformats.org/officeDocument/2006/relationships/image" Target="../media/image20.png"/><Relationship Id="rId9" Type="http://schemas.openxmlformats.org/officeDocument/2006/relationships/image" Target="../media/image25.png"/><Relationship Id="rId14" Type="http://schemas.openxmlformats.org/officeDocument/2006/relationships/image" Target="../media/image30.svg"/></Relationships>
</file>

<file path=ppt/slides/_rels/slide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2.svg"/><Relationship Id="rId7"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8955E5-804A-4661-3FEF-EAEFDC6F4C7B}"/>
              </a:ext>
            </a:extLst>
          </p:cNvPr>
          <p:cNvSpPr txBox="1"/>
          <p:nvPr/>
        </p:nvSpPr>
        <p:spPr>
          <a:xfrm>
            <a:off x="670560" y="2317147"/>
            <a:ext cx="6736080" cy="3416320"/>
          </a:xfrm>
          <a:prstGeom prst="rect">
            <a:avLst/>
          </a:prstGeom>
          <a:noFill/>
        </p:spPr>
        <p:txBody>
          <a:bodyPr wrap="square">
            <a:spAutoFit/>
          </a:bodyPr>
          <a:lstStyle/>
          <a:p>
            <a:pPr algn="just"/>
            <a:r>
              <a:rPr lang="en-US" b="1" dirty="0">
                <a:latin typeface="Monospac821 BT" panose="020B0609020202020204" pitchFamily="49" charset="0"/>
              </a:rPr>
              <a:t>Description: This project is an AI-based skin disease detection system that analyzes uploaded skin images using deep learning and provides disease predictions with confidence scores. Based on the user’s selected location, the system dynamically fetches nearby dermatology hospitals using real-time location services, helping users quickly find professional medical support. The application integrates machine learning, web technologies, and location-based healthcare assistance into a single user-friendly platform.</a:t>
            </a:r>
            <a:endParaRPr lang="en-IN" b="1" dirty="0">
              <a:latin typeface="Monospac821 BT" panose="020B0609020202020204" pitchFamily="49" charset="0"/>
            </a:endParaRPr>
          </a:p>
        </p:txBody>
      </p:sp>
      <p:sp>
        <p:nvSpPr>
          <p:cNvPr id="4" name="TextBox 3">
            <a:extLst>
              <a:ext uri="{FF2B5EF4-FFF2-40B4-BE49-F238E27FC236}">
                <a16:creationId xmlns:a16="http://schemas.microsoft.com/office/drawing/2014/main" id="{C5E492A5-2C12-E8A1-4D02-3CD81949233D}"/>
              </a:ext>
            </a:extLst>
          </p:cNvPr>
          <p:cNvSpPr txBox="1"/>
          <p:nvPr/>
        </p:nvSpPr>
        <p:spPr>
          <a:xfrm>
            <a:off x="670560" y="1255873"/>
            <a:ext cx="7324578" cy="646331"/>
          </a:xfrm>
          <a:prstGeom prst="rect">
            <a:avLst/>
          </a:prstGeom>
          <a:noFill/>
        </p:spPr>
        <p:txBody>
          <a:bodyPr wrap="square" rtlCol="0">
            <a:spAutoFit/>
          </a:bodyPr>
          <a:lstStyle/>
          <a:p>
            <a:r>
              <a:rPr lang="en-IN" b="1" dirty="0">
                <a:latin typeface="Monospac821 BT" panose="020B0609020202020204" pitchFamily="49" charset="0"/>
              </a:rPr>
              <a:t>Project Title: </a:t>
            </a:r>
            <a:r>
              <a:rPr lang="en-US" b="1" dirty="0">
                <a:latin typeface="Monospac821 BT" panose="020B0609020202020204" pitchFamily="49" charset="0"/>
              </a:rPr>
              <a:t>AI-Based Intelligent System for Skin Disease Detection and Healthcare Recommendation</a:t>
            </a:r>
            <a:endParaRPr lang="en-IN" b="1" dirty="0">
              <a:latin typeface="Monospac821 BT" panose="020B0609020202020204" pitchFamily="49" charset="0"/>
            </a:endParaRPr>
          </a:p>
        </p:txBody>
      </p:sp>
      <p:sp>
        <p:nvSpPr>
          <p:cNvPr id="5" name="TextBox 4">
            <a:extLst>
              <a:ext uri="{FF2B5EF4-FFF2-40B4-BE49-F238E27FC236}">
                <a16:creationId xmlns:a16="http://schemas.microsoft.com/office/drawing/2014/main" id="{C6037290-5AE6-0A43-174B-34BA44329CBC}"/>
              </a:ext>
            </a:extLst>
          </p:cNvPr>
          <p:cNvSpPr txBox="1"/>
          <p:nvPr/>
        </p:nvSpPr>
        <p:spPr>
          <a:xfrm>
            <a:off x="670560" y="6148410"/>
            <a:ext cx="4785360" cy="369332"/>
          </a:xfrm>
          <a:prstGeom prst="rect">
            <a:avLst/>
          </a:prstGeom>
          <a:noFill/>
        </p:spPr>
        <p:txBody>
          <a:bodyPr wrap="square" rtlCol="0">
            <a:spAutoFit/>
          </a:bodyPr>
          <a:lstStyle/>
          <a:p>
            <a:r>
              <a:rPr lang="en-IN" b="1" dirty="0">
                <a:latin typeface="Monospac821 BT" panose="020B0609020202020204" pitchFamily="49" charset="0"/>
              </a:rPr>
              <a:t>Domain: Artificial Intelligence</a:t>
            </a:r>
          </a:p>
        </p:txBody>
      </p:sp>
      <p:sp>
        <p:nvSpPr>
          <p:cNvPr id="6" name="TextBox 5">
            <a:extLst>
              <a:ext uri="{FF2B5EF4-FFF2-40B4-BE49-F238E27FC236}">
                <a16:creationId xmlns:a16="http://schemas.microsoft.com/office/drawing/2014/main" id="{9CAE309F-4644-6BA1-D164-D6AA21CEDBA0}"/>
              </a:ext>
            </a:extLst>
          </p:cNvPr>
          <p:cNvSpPr txBox="1"/>
          <p:nvPr/>
        </p:nvSpPr>
        <p:spPr>
          <a:xfrm>
            <a:off x="4356768" y="220935"/>
            <a:ext cx="2860109" cy="540689"/>
          </a:xfrm>
          <a:prstGeom prst="rect">
            <a:avLst/>
          </a:prstGeom>
          <a:solidFill>
            <a:schemeClr val="accent1">
              <a:lumMod val="75000"/>
            </a:schemeClr>
          </a:solidFill>
        </p:spPr>
        <p:txBody>
          <a:bodyPr wrap="square" rtlCol="0">
            <a:spAutoFit/>
          </a:bodyPr>
          <a:lstStyle/>
          <a:p>
            <a:r>
              <a:rPr lang="en-IN" sz="2800" b="1" dirty="0">
                <a:solidFill>
                  <a:schemeClr val="bg1"/>
                </a:solidFill>
                <a:latin typeface="Monospac821 BT" panose="020B0609020202020204" pitchFamily="49" charset="0"/>
              </a:rPr>
              <a:t>INTRODUCTION</a:t>
            </a:r>
          </a:p>
        </p:txBody>
      </p:sp>
      <p:pic>
        <p:nvPicPr>
          <p:cNvPr id="7" name="Graphic 6" descr="An organic corner shape">
            <a:extLst>
              <a:ext uri="{FF2B5EF4-FFF2-40B4-BE49-F238E27FC236}">
                <a16:creationId xmlns:a16="http://schemas.microsoft.com/office/drawing/2014/main" id="{142C505C-A006-D200-D02A-6C1DE34D16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2410535" cy="2410535"/>
          </a:xfrm>
          <a:prstGeom prst="rect">
            <a:avLst/>
          </a:prstGeom>
        </p:spPr>
      </p:pic>
      <p:pic>
        <p:nvPicPr>
          <p:cNvPr id="8" name="Graphic 7" descr="An organic corner shape">
            <a:extLst>
              <a:ext uri="{FF2B5EF4-FFF2-40B4-BE49-F238E27FC236}">
                <a16:creationId xmlns:a16="http://schemas.microsoft.com/office/drawing/2014/main" id="{E4EC338E-42F5-DCAE-4C85-79FE8F19650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266946" y="4886745"/>
            <a:ext cx="1986058" cy="1986058"/>
          </a:xfrm>
          <a:prstGeom prst="rect">
            <a:avLst/>
          </a:prstGeom>
        </p:spPr>
      </p:pic>
      <p:pic>
        <p:nvPicPr>
          <p:cNvPr id="10" name="Picture 9">
            <a:extLst>
              <a:ext uri="{FF2B5EF4-FFF2-40B4-BE49-F238E27FC236}">
                <a16:creationId xmlns:a16="http://schemas.microsoft.com/office/drawing/2014/main" id="{3201C3EF-476E-4644-917D-D563516FC0CF}"/>
              </a:ext>
            </a:extLst>
          </p:cNvPr>
          <p:cNvPicPr>
            <a:picLocks noChangeAspect="1"/>
          </p:cNvPicPr>
          <p:nvPr/>
        </p:nvPicPr>
        <p:blipFill>
          <a:blip r:embed="rId4">
            <a:alphaModFix amt="44000"/>
          </a:blip>
          <a:stretch>
            <a:fillRect/>
          </a:stretch>
        </p:blipFill>
        <p:spPr>
          <a:xfrm>
            <a:off x="8077200" y="2062694"/>
            <a:ext cx="3577669" cy="3342425"/>
          </a:xfrm>
          <a:prstGeom prst="rect">
            <a:avLst/>
          </a:prstGeom>
        </p:spPr>
      </p:pic>
    </p:spTree>
    <p:extLst>
      <p:ext uri="{BB962C8B-B14F-4D97-AF65-F5344CB8AC3E}">
        <p14:creationId xmlns:p14="http://schemas.microsoft.com/office/powerpoint/2010/main" val="332175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9E3C14-8715-0752-E53E-22CD519FE2E4}"/>
              </a:ext>
            </a:extLst>
          </p:cNvPr>
          <p:cNvSpPr txBox="1"/>
          <p:nvPr/>
        </p:nvSpPr>
        <p:spPr>
          <a:xfrm>
            <a:off x="4565316" y="220936"/>
            <a:ext cx="3680327" cy="523220"/>
          </a:xfrm>
          <a:prstGeom prst="rect">
            <a:avLst/>
          </a:prstGeom>
          <a:solidFill>
            <a:schemeClr val="accent1">
              <a:lumMod val="75000"/>
            </a:schemeClr>
          </a:solidFill>
        </p:spPr>
        <p:txBody>
          <a:bodyPr wrap="square" rtlCol="0">
            <a:spAutoFit/>
          </a:bodyPr>
          <a:lstStyle/>
          <a:p>
            <a:r>
              <a:rPr lang="en-IN" sz="2800" b="1">
                <a:solidFill>
                  <a:schemeClr val="bg1"/>
                </a:solidFill>
                <a:latin typeface="Monospac821 BT" panose="020B0609020202020204" pitchFamily="49" charset="0"/>
              </a:rPr>
              <a:t>PROJECT OVERVIEW</a:t>
            </a:r>
            <a:endParaRPr lang="en-IN" sz="2800" b="1" dirty="0">
              <a:solidFill>
                <a:schemeClr val="bg1"/>
              </a:solidFill>
              <a:latin typeface="Monospac821 BT" panose="020B0609020202020204" pitchFamily="49" charset="0"/>
            </a:endParaRPr>
          </a:p>
        </p:txBody>
      </p:sp>
      <p:sp>
        <p:nvSpPr>
          <p:cNvPr id="4" name="TextBox 3">
            <a:extLst>
              <a:ext uri="{FF2B5EF4-FFF2-40B4-BE49-F238E27FC236}">
                <a16:creationId xmlns:a16="http://schemas.microsoft.com/office/drawing/2014/main" id="{2FC6CF40-FDB0-82D8-FE3E-5C7FB6A3CA3C}"/>
              </a:ext>
            </a:extLst>
          </p:cNvPr>
          <p:cNvSpPr txBox="1"/>
          <p:nvPr/>
        </p:nvSpPr>
        <p:spPr>
          <a:xfrm>
            <a:off x="552855" y="1190463"/>
            <a:ext cx="11146775" cy="1754326"/>
          </a:xfrm>
          <a:prstGeom prst="rect">
            <a:avLst/>
          </a:prstGeom>
          <a:noFill/>
        </p:spPr>
        <p:txBody>
          <a:bodyPr wrap="square" rtlCol="0">
            <a:spAutoFit/>
          </a:bodyPr>
          <a:lstStyle/>
          <a:p>
            <a:pPr algn="just"/>
            <a:r>
              <a:rPr lang="en-IN" b="1" dirty="0">
                <a:latin typeface="Monospac821 BT" panose="020B0609020202020204" pitchFamily="49" charset="0"/>
              </a:rPr>
              <a:t>Problem Statement : </a:t>
            </a:r>
            <a:r>
              <a:rPr lang="en-IN" dirty="0">
                <a:latin typeface="Monospac821 BT" panose="020B0609020202020204" pitchFamily="49" charset="0"/>
              </a:rPr>
              <a:t>Current skin disease diagnostic methods are often slow and require expert intervention. This project aims to develop an AI-powered skin disease detection system to automatically classify skin diseases from uploaded images, provide early diagnosis, and help users connect with the right healthcare professionals.</a:t>
            </a:r>
          </a:p>
          <a:p>
            <a:pPr algn="just"/>
            <a:endParaRPr lang="en-IN" b="1" dirty="0">
              <a:latin typeface="Monospac821 BT" panose="020B0609020202020204" pitchFamily="49" charset="0"/>
            </a:endParaRPr>
          </a:p>
        </p:txBody>
      </p:sp>
      <p:grpSp>
        <p:nvGrpSpPr>
          <p:cNvPr id="23" name="Group 22">
            <a:extLst>
              <a:ext uri="{FF2B5EF4-FFF2-40B4-BE49-F238E27FC236}">
                <a16:creationId xmlns:a16="http://schemas.microsoft.com/office/drawing/2014/main" id="{1FEC2A2F-9AE3-D320-A8D5-19EBEEDD5006}"/>
              </a:ext>
            </a:extLst>
          </p:cNvPr>
          <p:cNvGrpSpPr/>
          <p:nvPr/>
        </p:nvGrpSpPr>
        <p:grpSpPr>
          <a:xfrm>
            <a:off x="522632" y="3111109"/>
            <a:ext cx="7097367" cy="2876072"/>
            <a:chOff x="453657" y="3357088"/>
            <a:chExt cx="7087758" cy="2876072"/>
          </a:xfrm>
        </p:grpSpPr>
        <p:sp>
          <p:nvSpPr>
            <p:cNvPr id="24" name="Rectangle: Rounded Corners 23">
              <a:extLst>
                <a:ext uri="{FF2B5EF4-FFF2-40B4-BE49-F238E27FC236}">
                  <a16:creationId xmlns:a16="http://schemas.microsoft.com/office/drawing/2014/main" id="{47B3671A-D313-983B-FA4B-3E7290958534}"/>
                </a:ext>
              </a:extLst>
            </p:cNvPr>
            <p:cNvSpPr/>
            <p:nvPr/>
          </p:nvSpPr>
          <p:spPr>
            <a:xfrm>
              <a:off x="453657" y="3357088"/>
              <a:ext cx="5865617" cy="287607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TextBox 24">
              <a:extLst>
                <a:ext uri="{FF2B5EF4-FFF2-40B4-BE49-F238E27FC236}">
                  <a16:creationId xmlns:a16="http://schemas.microsoft.com/office/drawing/2014/main" id="{75A26413-05CB-0987-5E06-35EC63C4C03F}"/>
                </a:ext>
              </a:extLst>
            </p:cNvPr>
            <p:cNvSpPr txBox="1"/>
            <p:nvPr/>
          </p:nvSpPr>
          <p:spPr>
            <a:xfrm>
              <a:off x="2602184" y="3416580"/>
              <a:ext cx="3017520" cy="369332"/>
            </a:xfrm>
            <a:prstGeom prst="rect">
              <a:avLst/>
            </a:prstGeom>
            <a:noFill/>
          </p:spPr>
          <p:txBody>
            <a:bodyPr wrap="square" rtlCol="0">
              <a:spAutoFit/>
            </a:bodyPr>
            <a:lstStyle/>
            <a:p>
              <a:r>
                <a:rPr lang="en-IN" b="1" dirty="0">
                  <a:latin typeface="Monospac821 BT" panose="020B0609020202020204" pitchFamily="49" charset="0"/>
                </a:rPr>
                <a:t>Objectives</a:t>
              </a:r>
            </a:p>
          </p:txBody>
        </p:sp>
        <p:sp>
          <p:nvSpPr>
            <p:cNvPr id="26" name="TextBox 25">
              <a:extLst>
                <a:ext uri="{FF2B5EF4-FFF2-40B4-BE49-F238E27FC236}">
                  <a16:creationId xmlns:a16="http://schemas.microsoft.com/office/drawing/2014/main" id="{B487BD37-AC6A-A16A-95B3-62467F51E028}"/>
                </a:ext>
              </a:extLst>
            </p:cNvPr>
            <p:cNvSpPr txBox="1"/>
            <p:nvPr/>
          </p:nvSpPr>
          <p:spPr>
            <a:xfrm>
              <a:off x="1270702" y="3911086"/>
              <a:ext cx="4621161" cy="307777"/>
            </a:xfrm>
            <a:prstGeom prst="rect">
              <a:avLst/>
            </a:prstGeom>
            <a:noFill/>
          </p:spPr>
          <p:txBody>
            <a:bodyPr wrap="square" rtlCol="0">
              <a:spAutoFit/>
            </a:bodyPr>
            <a:lstStyle/>
            <a:p>
              <a:r>
                <a:rPr lang="en-IN" sz="1400" dirty="0">
                  <a:latin typeface="Monospac821 BT" panose="020B0609020202020204" pitchFamily="49" charset="0"/>
                </a:rPr>
                <a:t>Accurate AI-based skin disease prediction</a:t>
              </a:r>
            </a:p>
          </p:txBody>
        </p:sp>
        <p:sp>
          <p:nvSpPr>
            <p:cNvPr id="27" name="TextBox 26">
              <a:extLst>
                <a:ext uri="{FF2B5EF4-FFF2-40B4-BE49-F238E27FC236}">
                  <a16:creationId xmlns:a16="http://schemas.microsoft.com/office/drawing/2014/main" id="{D6A7AB14-7E64-5B28-88B1-1DD2F1A9A712}"/>
                </a:ext>
              </a:extLst>
            </p:cNvPr>
            <p:cNvSpPr txBox="1"/>
            <p:nvPr/>
          </p:nvSpPr>
          <p:spPr>
            <a:xfrm>
              <a:off x="1317079" y="5363612"/>
              <a:ext cx="6224336" cy="307777"/>
            </a:xfrm>
            <a:prstGeom prst="rect">
              <a:avLst/>
            </a:prstGeom>
            <a:noFill/>
          </p:spPr>
          <p:txBody>
            <a:bodyPr wrap="square">
              <a:spAutoFit/>
            </a:bodyPr>
            <a:lstStyle/>
            <a:p>
              <a:r>
                <a:rPr lang="en-IN" sz="1400" dirty="0">
                  <a:latin typeface="Monospac821 BT" panose="020B0609020202020204" pitchFamily="49" charset="0"/>
                </a:rPr>
                <a:t>User-friendly interface</a:t>
              </a:r>
            </a:p>
          </p:txBody>
        </p:sp>
        <p:sp>
          <p:nvSpPr>
            <p:cNvPr id="28" name="TextBox 27">
              <a:extLst>
                <a:ext uri="{FF2B5EF4-FFF2-40B4-BE49-F238E27FC236}">
                  <a16:creationId xmlns:a16="http://schemas.microsoft.com/office/drawing/2014/main" id="{836E9015-6EB3-8581-1933-9E9F70FD537F}"/>
                </a:ext>
              </a:extLst>
            </p:cNvPr>
            <p:cNvSpPr txBox="1"/>
            <p:nvPr/>
          </p:nvSpPr>
          <p:spPr>
            <a:xfrm>
              <a:off x="1308881" y="4619420"/>
              <a:ext cx="5010393" cy="307777"/>
            </a:xfrm>
            <a:prstGeom prst="rect">
              <a:avLst/>
            </a:prstGeom>
            <a:noFill/>
          </p:spPr>
          <p:txBody>
            <a:bodyPr wrap="square">
              <a:spAutoFit/>
            </a:bodyPr>
            <a:lstStyle/>
            <a:p>
              <a:r>
                <a:rPr lang="en-IN" sz="1400" dirty="0">
                  <a:latin typeface="Monospac821 BT" panose="020B0609020202020204" pitchFamily="49" charset="0"/>
                </a:rPr>
                <a:t>Location-based dermatologist recommendation</a:t>
              </a:r>
            </a:p>
          </p:txBody>
        </p:sp>
        <p:pic>
          <p:nvPicPr>
            <p:cNvPr id="29" name="Picture 28">
              <a:extLst>
                <a:ext uri="{FF2B5EF4-FFF2-40B4-BE49-F238E27FC236}">
                  <a16:creationId xmlns:a16="http://schemas.microsoft.com/office/drawing/2014/main" id="{430ADAA6-7150-9B51-B855-979F94A2A551}"/>
                </a:ext>
              </a:extLst>
            </p:cNvPr>
            <p:cNvPicPr>
              <a:picLocks noChangeAspect="1"/>
            </p:cNvPicPr>
            <p:nvPr/>
          </p:nvPicPr>
          <p:blipFill>
            <a:blip r:embed="rId2"/>
            <a:stretch>
              <a:fillRect/>
            </a:stretch>
          </p:blipFill>
          <p:spPr>
            <a:xfrm>
              <a:off x="777691" y="3832924"/>
              <a:ext cx="531190" cy="582762"/>
            </a:xfrm>
            <a:prstGeom prst="rect">
              <a:avLst/>
            </a:prstGeom>
          </p:spPr>
        </p:pic>
        <p:pic>
          <p:nvPicPr>
            <p:cNvPr id="30" name="Picture 29">
              <a:extLst>
                <a:ext uri="{FF2B5EF4-FFF2-40B4-BE49-F238E27FC236}">
                  <a16:creationId xmlns:a16="http://schemas.microsoft.com/office/drawing/2014/main" id="{526624E4-AD37-AEFF-7D55-C1B1055C8D96}"/>
                </a:ext>
              </a:extLst>
            </p:cNvPr>
            <p:cNvPicPr>
              <a:picLocks noChangeAspect="1"/>
            </p:cNvPicPr>
            <p:nvPr/>
          </p:nvPicPr>
          <p:blipFill>
            <a:blip r:embed="rId3"/>
            <a:stretch>
              <a:fillRect/>
            </a:stretch>
          </p:blipFill>
          <p:spPr>
            <a:xfrm>
              <a:off x="552855" y="4469211"/>
              <a:ext cx="766201" cy="644053"/>
            </a:xfrm>
            <a:prstGeom prst="rect">
              <a:avLst/>
            </a:prstGeom>
          </p:spPr>
        </p:pic>
        <p:pic>
          <p:nvPicPr>
            <p:cNvPr id="31" name="Picture 30">
              <a:extLst>
                <a:ext uri="{FF2B5EF4-FFF2-40B4-BE49-F238E27FC236}">
                  <a16:creationId xmlns:a16="http://schemas.microsoft.com/office/drawing/2014/main" id="{7EFF82E0-D1F1-C94B-4B9B-F0BB622D80D6}"/>
                </a:ext>
              </a:extLst>
            </p:cNvPr>
            <p:cNvPicPr>
              <a:picLocks noChangeAspect="1"/>
            </p:cNvPicPr>
            <p:nvPr/>
          </p:nvPicPr>
          <p:blipFill>
            <a:blip r:embed="rId4"/>
            <a:stretch>
              <a:fillRect/>
            </a:stretch>
          </p:blipFill>
          <p:spPr>
            <a:xfrm>
              <a:off x="619354" y="5249441"/>
              <a:ext cx="697725" cy="644053"/>
            </a:xfrm>
            <a:prstGeom prst="rect">
              <a:avLst/>
            </a:prstGeom>
          </p:spPr>
        </p:pic>
      </p:grpSp>
      <p:sp>
        <p:nvSpPr>
          <p:cNvPr id="32" name="Rectangle: Rounded Corners 31">
            <a:extLst>
              <a:ext uri="{FF2B5EF4-FFF2-40B4-BE49-F238E27FC236}">
                <a16:creationId xmlns:a16="http://schemas.microsoft.com/office/drawing/2014/main" id="{D055043D-B379-F4EE-2A31-95DF577A61EF}"/>
              </a:ext>
            </a:extLst>
          </p:cNvPr>
          <p:cNvSpPr/>
          <p:nvPr/>
        </p:nvSpPr>
        <p:spPr>
          <a:xfrm>
            <a:off x="6764163" y="3111108"/>
            <a:ext cx="5101389" cy="291970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2F90EE59-405A-7A7B-249F-7004439C573B}"/>
              </a:ext>
            </a:extLst>
          </p:cNvPr>
          <p:cNvSpPr txBox="1"/>
          <p:nvPr/>
        </p:nvSpPr>
        <p:spPr>
          <a:xfrm>
            <a:off x="8442388" y="3111108"/>
            <a:ext cx="1944591" cy="369332"/>
          </a:xfrm>
          <a:prstGeom prst="rect">
            <a:avLst/>
          </a:prstGeom>
          <a:noFill/>
        </p:spPr>
        <p:txBody>
          <a:bodyPr wrap="square" rtlCol="0">
            <a:spAutoFit/>
          </a:bodyPr>
          <a:lstStyle/>
          <a:p>
            <a:r>
              <a:rPr lang="en-IN" b="1" dirty="0">
                <a:latin typeface="Monospac821 BT" panose="020B0609020202020204" pitchFamily="49" charset="0"/>
              </a:rPr>
              <a:t>Target Users</a:t>
            </a:r>
          </a:p>
        </p:txBody>
      </p:sp>
      <p:sp>
        <p:nvSpPr>
          <p:cNvPr id="34" name="TextBox 33">
            <a:extLst>
              <a:ext uri="{FF2B5EF4-FFF2-40B4-BE49-F238E27FC236}">
                <a16:creationId xmlns:a16="http://schemas.microsoft.com/office/drawing/2014/main" id="{0CA538C4-0260-0F95-7C84-3B28212A42EC}"/>
              </a:ext>
            </a:extLst>
          </p:cNvPr>
          <p:cNvSpPr txBox="1"/>
          <p:nvPr/>
        </p:nvSpPr>
        <p:spPr>
          <a:xfrm>
            <a:off x="8084418" y="3726177"/>
            <a:ext cx="2302561" cy="307777"/>
          </a:xfrm>
          <a:prstGeom prst="rect">
            <a:avLst/>
          </a:prstGeom>
          <a:noFill/>
        </p:spPr>
        <p:txBody>
          <a:bodyPr wrap="square" rtlCol="0">
            <a:spAutoFit/>
          </a:bodyPr>
          <a:lstStyle/>
          <a:p>
            <a:r>
              <a:rPr lang="en-IN" sz="1400" dirty="0">
                <a:latin typeface="Monospac821 BT" panose="020B0609020202020204" pitchFamily="49" charset="0"/>
              </a:rPr>
              <a:t>General Public</a:t>
            </a:r>
          </a:p>
        </p:txBody>
      </p:sp>
      <p:sp>
        <p:nvSpPr>
          <p:cNvPr id="35" name="TextBox 34">
            <a:extLst>
              <a:ext uri="{FF2B5EF4-FFF2-40B4-BE49-F238E27FC236}">
                <a16:creationId xmlns:a16="http://schemas.microsoft.com/office/drawing/2014/main" id="{94864CC6-E8DA-114C-9C45-651CC9B8E045}"/>
              </a:ext>
            </a:extLst>
          </p:cNvPr>
          <p:cNvSpPr txBox="1"/>
          <p:nvPr/>
        </p:nvSpPr>
        <p:spPr>
          <a:xfrm>
            <a:off x="8079751" y="4587522"/>
            <a:ext cx="3525438" cy="307777"/>
          </a:xfrm>
          <a:prstGeom prst="rect">
            <a:avLst/>
          </a:prstGeom>
          <a:noFill/>
        </p:spPr>
        <p:txBody>
          <a:bodyPr wrap="square" rtlCol="0">
            <a:spAutoFit/>
          </a:bodyPr>
          <a:lstStyle/>
          <a:p>
            <a:r>
              <a:rPr lang="en-IN" sz="1400" dirty="0">
                <a:latin typeface="Monospac821 BT" panose="020B0609020202020204" pitchFamily="49" charset="0"/>
              </a:rPr>
              <a:t>Patients in remote areas</a:t>
            </a:r>
          </a:p>
        </p:txBody>
      </p:sp>
      <p:sp>
        <p:nvSpPr>
          <p:cNvPr id="36" name="TextBox 35">
            <a:extLst>
              <a:ext uri="{FF2B5EF4-FFF2-40B4-BE49-F238E27FC236}">
                <a16:creationId xmlns:a16="http://schemas.microsoft.com/office/drawing/2014/main" id="{20AB5E39-DC83-AA5C-B97A-A3DE01F6D705}"/>
              </a:ext>
            </a:extLst>
          </p:cNvPr>
          <p:cNvSpPr txBox="1"/>
          <p:nvPr/>
        </p:nvSpPr>
        <p:spPr>
          <a:xfrm>
            <a:off x="8079751" y="5448867"/>
            <a:ext cx="3207009" cy="307777"/>
          </a:xfrm>
          <a:prstGeom prst="rect">
            <a:avLst/>
          </a:prstGeom>
          <a:noFill/>
        </p:spPr>
        <p:txBody>
          <a:bodyPr wrap="square" rtlCol="0">
            <a:spAutoFit/>
          </a:bodyPr>
          <a:lstStyle/>
          <a:p>
            <a:r>
              <a:rPr lang="en-IN" sz="1400" dirty="0">
                <a:latin typeface="Monospac821 BT" panose="020B0609020202020204" pitchFamily="49" charset="0"/>
              </a:rPr>
              <a:t>Healthcare support systems</a:t>
            </a:r>
          </a:p>
        </p:txBody>
      </p:sp>
      <p:pic>
        <p:nvPicPr>
          <p:cNvPr id="37" name="Picture 36">
            <a:extLst>
              <a:ext uri="{FF2B5EF4-FFF2-40B4-BE49-F238E27FC236}">
                <a16:creationId xmlns:a16="http://schemas.microsoft.com/office/drawing/2014/main" id="{6254C178-B5CE-678C-CF58-B9358866C87C}"/>
              </a:ext>
            </a:extLst>
          </p:cNvPr>
          <p:cNvPicPr>
            <a:picLocks noChangeAspect="1"/>
          </p:cNvPicPr>
          <p:nvPr/>
        </p:nvPicPr>
        <p:blipFill>
          <a:blip r:embed="rId5"/>
          <a:stretch>
            <a:fillRect/>
          </a:stretch>
        </p:blipFill>
        <p:spPr>
          <a:xfrm>
            <a:off x="7237581" y="3580502"/>
            <a:ext cx="631756" cy="532872"/>
          </a:xfrm>
          <a:prstGeom prst="rect">
            <a:avLst/>
          </a:prstGeom>
        </p:spPr>
      </p:pic>
      <p:pic>
        <p:nvPicPr>
          <p:cNvPr id="38" name="Picture 37">
            <a:extLst>
              <a:ext uri="{FF2B5EF4-FFF2-40B4-BE49-F238E27FC236}">
                <a16:creationId xmlns:a16="http://schemas.microsoft.com/office/drawing/2014/main" id="{94B3B18E-1BDB-DCEE-CB7C-0CF85F72F76C}"/>
              </a:ext>
            </a:extLst>
          </p:cNvPr>
          <p:cNvPicPr>
            <a:picLocks noChangeAspect="1"/>
          </p:cNvPicPr>
          <p:nvPr/>
        </p:nvPicPr>
        <p:blipFill>
          <a:blip r:embed="rId6"/>
          <a:stretch>
            <a:fillRect/>
          </a:stretch>
        </p:blipFill>
        <p:spPr>
          <a:xfrm>
            <a:off x="7271145" y="4362427"/>
            <a:ext cx="548244" cy="532872"/>
          </a:xfrm>
          <a:prstGeom prst="rect">
            <a:avLst/>
          </a:prstGeom>
        </p:spPr>
      </p:pic>
      <p:pic>
        <p:nvPicPr>
          <p:cNvPr id="39" name="Picture 38">
            <a:extLst>
              <a:ext uri="{FF2B5EF4-FFF2-40B4-BE49-F238E27FC236}">
                <a16:creationId xmlns:a16="http://schemas.microsoft.com/office/drawing/2014/main" id="{2937BE38-5CF4-6F4C-BF53-378E957EE99F}"/>
              </a:ext>
            </a:extLst>
          </p:cNvPr>
          <p:cNvPicPr>
            <a:picLocks noChangeAspect="1"/>
          </p:cNvPicPr>
          <p:nvPr/>
        </p:nvPicPr>
        <p:blipFill>
          <a:blip r:embed="rId7"/>
          <a:stretch>
            <a:fillRect/>
          </a:stretch>
        </p:blipFill>
        <p:spPr>
          <a:xfrm>
            <a:off x="7271146" y="5264854"/>
            <a:ext cx="689748" cy="623194"/>
          </a:xfrm>
          <a:prstGeom prst="rect">
            <a:avLst/>
          </a:prstGeom>
        </p:spPr>
      </p:pic>
      <p:pic>
        <p:nvPicPr>
          <p:cNvPr id="41" name="Graphic 40" descr="An organic corner shape">
            <a:extLst>
              <a:ext uri="{FF2B5EF4-FFF2-40B4-BE49-F238E27FC236}">
                <a16:creationId xmlns:a16="http://schemas.microsoft.com/office/drawing/2014/main" id="{0C0E81D4-8E40-2DAD-760F-0AB757B871F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14805"/>
            <a:ext cx="2410535" cy="2410535"/>
          </a:xfrm>
          <a:prstGeom prst="rect">
            <a:avLst/>
          </a:prstGeom>
        </p:spPr>
      </p:pic>
      <p:pic>
        <p:nvPicPr>
          <p:cNvPr id="43" name="Graphic 42" descr="An organic corner shape">
            <a:extLst>
              <a:ext uri="{FF2B5EF4-FFF2-40B4-BE49-F238E27FC236}">
                <a16:creationId xmlns:a16="http://schemas.microsoft.com/office/drawing/2014/main" id="{964C745E-6175-6617-5EDC-A894CA6CF29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10266946" y="4886745"/>
            <a:ext cx="1986058" cy="1986058"/>
          </a:xfrm>
          <a:prstGeom prst="rect">
            <a:avLst/>
          </a:prstGeom>
        </p:spPr>
      </p:pic>
    </p:spTree>
    <p:extLst>
      <p:ext uri="{BB962C8B-B14F-4D97-AF65-F5344CB8AC3E}">
        <p14:creationId xmlns:p14="http://schemas.microsoft.com/office/powerpoint/2010/main" val="3952218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BDF1-5AC4-2A7A-34BE-173B59B83A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5972F5D-93A6-3EC4-0F96-73C5F5A606BB}"/>
              </a:ext>
            </a:extLst>
          </p:cNvPr>
          <p:cNvSpPr txBox="1"/>
          <p:nvPr/>
        </p:nvSpPr>
        <p:spPr>
          <a:xfrm>
            <a:off x="4372810" y="188851"/>
            <a:ext cx="3712411" cy="523220"/>
          </a:xfrm>
          <a:prstGeom prst="rect">
            <a:avLst/>
          </a:prstGeom>
          <a:solidFill>
            <a:schemeClr val="accent1">
              <a:lumMod val="75000"/>
            </a:schemeClr>
          </a:solidFill>
        </p:spPr>
        <p:txBody>
          <a:bodyPr wrap="square" rtlCol="0">
            <a:spAutoFit/>
          </a:bodyPr>
          <a:lstStyle/>
          <a:p>
            <a:r>
              <a:rPr lang="en-IN" sz="2800" b="1" dirty="0">
                <a:solidFill>
                  <a:schemeClr val="bg1"/>
                </a:solidFill>
                <a:latin typeface="Monospac821 BT" panose="020B0609020202020204" pitchFamily="49" charset="0"/>
              </a:rPr>
              <a:t>TECHNOLOGY STACK</a:t>
            </a:r>
          </a:p>
        </p:txBody>
      </p:sp>
      <p:pic>
        <p:nvPicPr>
          <p:cNvPr id="16" name="Picture 15">
            <a:extLst>
              <a:ext uri="{FF2B5EF4-FFF2-40B4-BE49-F238E27FC236}">
                <a16:creationId xmlns:a16="http://schemas.microsoft.com/office/drawing/2014/main" id="{E5E94846-8A61-95A8-3B62-6527ED709B0B}"/>
              </a:ext>
            </a:extLst>
          </p:cNvPr>
          <p:cNvPicPr>
            <a:picLocks noChangeAspect="1"/>
          </p:cNvPicPr>
          <p:nvPr/>
        </p:nvPicPr>
        <p:blipFill>
          <a:blip r:embed="rId3"/>
          <a:stretch>
            <a:fillRect/>
          </a:stretch>
        </p:blipFill>
        <p:spPr>
          <a:xfrm>
            <a:off x="560265" y="2439666"/>
            <a:ext cx="374791" cy="361461"/>
          </a:xfrm>
          <a:prstGeom prst="rect">
            <a:avLst/>
          </a:prstGeom>
        </p:spPr>
      </p:pic>
      <p:sp>
        <p:nvSpPr>
          <p:cNvPr id="3" name="Rectangle: Rounded Corners 2">
            <a:extLst>
              <a:ext uri="{FF2B5EF4-FFF2-40B4-BE49-F238E27FC236}">
                <a16:creationId xmlns:a16="http://schemas.microsoft.com/office/drawing/2014/main" id="{3F9A1AEE-7B3A-A830-926D-A31DD50C0ECA}"/>
              </a:ext>
            </a:extLst>
          </p:cNvPr>
          <p:cNvSpPr/>
          <p:nvPr/>
        </p:nvSpPr>
        <p:spPr>
          <a:xfrm>
            <a:off x="305791" y="1406013"/>
            <a:ext cx="2761873" cy="4225412"/>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7" name="Rectangle: Rounded Corners 16">
            <a:extLst>
              <a:ext uri="{FF2B5EF4-FFF2-40B4-BE49-F238E27FC236}">
                <a16:creationId xmlns:a16="http://schemas.microsoft.com/office/drawing/2014/main" id="{D34B49F4-F9D6-285D-3E48-FDEA03BAAB4F}"/>
              </a:ext>
            </a:extLst>
          </p:cNvPr>
          <p:cNvSpPr/>
          <p:nvPr/>
        </p:nvSpPr>
        <p:spPr>
          <a:xfrm>
            <a:off x="9258061" y="1406013"/>
            <a:ext cx="2761873" cy="4225412"/>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0220561-23A1-1702-9237-F8BD73A049AE}"/>
              </a:ext>
            </a:extLst>
          </p:cNvPr>
          <p:cNvSpPr/>
          <p:nvPr/>
        </p:nvSpPr>
        <p:spPr>
          <a:xfrm>
            <a:off x="6273971" y="1406013"/>
            <a:ext cx="2761873" cy="4225412"/>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Rounded Corners 18">
            <a:extLst>
              <a:ext uri="{FF2B5EF4-FFF2-40B4-BE49-F238E27FC236}">
                <a16:creationId xmlns:a16="http://schemas.microsoft.com/office/drawing/2014/main" id="{EED2ED9E-839A-756D-2E73-2AE6A865BAB7}"/>
              </a:ext>
            </a:extLst>
          </p:cNvPr>
          <p:cNvSpPr/>
          <p:nvPr/>
        </p:nvSpPr>
        <p:spPr>
          <a:xfrm>
            <a:off x="3289881" y="1406013"/>
            <a:ext cx="2761873" cy="4225412"/>
          </a:xfrm>
          <a:prstGeom prst="roundRect">
            <a:avLst/>
          </a:prstGeom>
          <a:solidFill>
            <a:schemeClr val="accent1">
              <a:alpha val="1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descr="An organic corner shape">
            <a:extLst>
              <a:ext uri="{FF2B5EF4-FFF2-40B4-BE49-F238E27FC236}">
                <a16:creationId xmlns:a16="http://schemas.microsoft.com/office/drawing/2014/main" id="{FA08A6E8-BF74-607A-5144-0774D482C3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75" y="0"/>
            <a:ext cx="2410535" cy="2410535"/>
          </a:xfrm>
          <a:prstGeom prst="rect">
            <a:avLst/>
          </a:prstGeom>
        </p:spPr>
      </p:pic>
      <p:pic>
        <p:nvPicPr>
          <p:cNvPr id="21" name="Graphic 20" descr="An organic corner shape">
            <a:extLst>
              <a:ext uri="{FF2B5EF4-FFF2-40B4-BE49-F238E27FC236}">
                <a16:creationId xmlns:a16="http://schemas.microsoft.com/office/drawing/2014/main" id="{6503C6AF-801A-D840-4D5E-9082E2163A2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0266946" y="4886745"/>
            <a:ext cx="1986058" cy="1986058"/>
          </a:xfrm>
          <a:prstGeom prst="rect">
            <a:avLst/>
          </a:prstGeom>
        </p:spPr>
      </p:pic>
      <p:sp>
        <p:nvSpPr>
          <p:cNvPr id="26" name="TextBox 25">
            <a:extLst>
              <a:ext uri="{FF2B5EF4-FFF2-40B4-BE49-F238E27FC236}">
                <a16:creationId xmlns:a16="http://schemas.microsoft.com/office/drawing/2014/main" id="{165351DF-8276-62A7-8A71-5310BB819BE3}"/>
              </a:ext>
            </a:extLst>
          </p:cNvPr>
          <p:cNvSpPr txBox="1"/>
          <p:nvPr/>
        </p:nvSpPr>
        <p:spPr>
          <a:xfrm>
            <a:off x="5633884" y="2974258"/>
            <a:ext cx="914400" cy="914400"/>
          </a:xfrm>
          <a:prstGeom prst="rect">
            <a:avLst/>
          </a:prstGeom>
          <a:noFill/>
        </p:spPr>
        <p:txBody>
          <a:bodyPr wrap="square" rtlCol="0">
            <a:spAutoFit/>
          </a:bodyPr>
          <a:lstStyle/>
          <a:p>
            <a:endParaRPr lang="en-IN" dirty="0"/>
          </a:p>
        </p:txBody>
      </p:sp>
      <p:sp>
        <p:nvSpPr>
          <p:cNvPr id="27" name="TextBox 26">
            <a:extLst>
              <a:ext uri="{FF2B5EF4-FFF2-40B4-BE49-F238E27FC236}">
                <a16:creationId xmlns:a16="http://schemas.microsoft.com/office/drawing/2014/main" id="{8F40B7A4-4815-269B-46B2-EBC708D3A5E5}"/>
              </a:ext>
            </a:extLst>
          </p:cNvPr>
          <p:cNvSpPr txBox="1"/>
          <p:nvPr/>
        </p:nvSpPr>
        <p:spPr>
          <a:xfrm>
            <a:off x="1015502" y="1480893"/>
            <a:ext cx="1491916" cy="369332"/>
          </a:xfrm>
          <a:prstGeom prst="rect">
            <a:avLst/>
          </a:prstGeom>
          <a:noFill/>
        </p:spPr>
        <p:txBody>
          <a:bodyPr wrap="square" rtlCol="0">
            <a:spAutoFit/>
          </a:bodyPr>
          <a:lstStyle/>
          <a:p>
            <a:r>
              <a:rPr lang="en-IN" dirty="0">
                <a:latin typeface="Monospac821 BT" panose="020B0609020202020204" pitchFamily="49" charset="0"/>
              </a:rPr>
              <a:t>Frontend</a:t>
            </a:r>
          </a:p>
        </p:txBody>
      </p:sp>
      <p:sp>
        <p:nvSpPr>
          <p:cNvPr id="28" name="TextBox 27">
            <a:extLst>
              <a:ext uri="{FF2B5EF4-FFF2-40B4-BE49-F238E27FC236}">
                <a16:creationId xmlns:a16="http://schemas.microsoft.com/office/drawing/2014/main" id="{921AE3F9-4BAA-30F6-2AAF-D305119D485B}"/>
              </a:ext>
            </a:extLst>
          </p:cNvPr>
          <p:cNvSpPr txBox="1"/>
          <p:nvPr/>
        </p:nvSpPr>
        <p:spPr>
          <a:xfrm>
            <a:off x="4072343" y="1480893"/>
            <a:ext cx="1196948" cy="369332"/>
          </a:xfrm>
          <a:prstGeom prst="rect">
            <a:avLst/>
          </a:prstGeom>
          <a:noFill/>
        </p:spPr>
        <p:txBody>
          <a:bodyPr wrap="square" rtlCol="0">
            <a:spAutoFit/>
          </a:bodyPr>
          <a:lstStyle/>
          <a:p>
            <a:r>
              <a:rPr lang="en-IN" dirty="0">
                <a:latin typeface="Monospac821 BT" panose="020B0609020202020204" pitchFamily="49" charset="0"/>
              </a:rPr>
              <a:t>Backend</a:t>
            </a:r>
          </a:p>
        </p:txBody>
      </p:sp>
      <p:sp>
        <p:nvSpPr>
          <p:cNvPr id="29" name="TextBox 28">
            <a:extLst>
              <a:ext uri="{FF2B5EF4-FFF2-40B4-BE49-F238E27FC236}">
                <a16:creationId xmlns:a16="http://schemas.microsoft.com/office/drawing/2014/main" id="{4F3DD28B-D6F8-81D4-1877-6CEB8CF92324}"/>
              </a:ext>
            </a:extLst>
          </p:cNvPr>
          <p:cNvSpPr txBox="1"/>
          <p:nvPr/>
        </p:nvSpPr>
        <p:spPr>
          <a:xfrm>
            <a:off x="7049207" y="1473832"/>
            <a:ext cx="1491916" cy="369332"/>
          </a:xfrm>
          <a:prstGeom prst="rect">
            <a:avLst/>
          </a:prstGeom>
          <a:noFill/>
        </p:spPr>
        <p:txBody>
          <a:bodyPr wrap="square" rtlCol="0">
            <a:spAutoFit/>
          </a:bodyPr>
          <a:lstStyle/>
          <a:p>
            <a:r>
              <a:rPr lang="en-IN" dirty="0">
                <a:latin typeface="Monospac821 BT" panose="020B0609020202020204" pitchFamily="49" charset="0"/>
              </a:rPr>
              <a:t>Database</a:t>
            </a:r>
          </a:p>
        </p:txBody>
      </p:sp>
      <p:sp>
        <p:nvSpPr>
          <p:cNvPr id="30" name="TextBox 29">
            <a:extLst>
              <a:ext uri="{FF2B5EF4-FFF2-40B4-BE49-F238E27FC236}">
                <a16:creationId xmlns:a16="http://schemas.microsoft.com/office/drawing/2014/main" id="{27F31A4F-3736-0347-4082-58094B662D02}"/>
              </a:ext>
            </a:extLst>
          </p:cNvPr>
          <p:cNvSpPr txBox="1"/>
          <p:nvPr/>
        </p:nvSpPr>
        <p:spPr>
          <a:xfrm>
            <a:off x="9881408" y="1473832"/>
            <a:ext cx="1748591" cy="369332"/>
          </a:xfrm>
          <a:prstGeom prst="rect">
            <a:avLst/>
          </a:prstGeom>
          <a:noFill/>
        </p:spPr>
        <p:txBody>
          <a:bodyPr wrap="square" rtlCol="0">
            <a:spAutoFit/>
          </a:bodyPr>
          <a:lstStyle/>
          <a:p>
            <a:r>
              <a:rPr lang="en-IN" dirty="0">
                <a:latin typeface="Monospac821 BT" panose="020B0609020202020204" pitchFamily="49" charset="0"/>
              </a:rPr>
              <a:t>AI/ML Tools</a:t>
            </a:r>
          </a:p>
        </p:txBody>
      </p:sp>
      <p:sp>
        <p:nvSpPr>
          <p:cNvPr id="31" name="TextBox 30">
            <a:extLst>
              <a:ext uri="{FF2B5EF4-FFF2-40B4-BE49-F238E27FC236}">
                <a16:creationId xmlns:a16="http://schemas.microsoft.com/office/drawing/2014/main" id="{E5BE9033-C278-8B77-F06A-2058707188C1}"/>
              </a:ext>
            </a:extLst>
          </p:cNvPr>
          <p:cNvSpPr txBox="1"/>
          <p:nvPr/>
        </p:nvSpPr>
        <p:spPr>
          <a:xfrm>
            <a:off x="935056" y="2429912"/>
            <a:ext cx="2031690" cy="2031325"/>
          </a:xfrm>
          <a:prstGeom prst="rect">
            <a:avLst/>
          </a:prstGeom>
          <a:noFill/>
        </p:spPr>
        <p:txBody>
          <a:bodyPr wrap="square" rtlCol="0">
            <a:spAutoFit/>
          </a:bodyPr>
          <a:lstStyle/>
          <a:p>
            <a:r>
              <a:rPr lang="en-IN" dirty="0">
                <a:latin typeface="Monospac821 BT" panose="020B0609020202020204" pitchFamily="49" charset="0"/>
              </a:rPr>
              <a:t>React.js</a:t>
            </a:r>
          </a:p>
          <a:p>
            <a:endParaRPr lang="en-IN" dirty="0">
              <a:latin typeface="Monospac821 BT" panose="020B0609020202020204" pitchFamily="49" charset="0"/>
            </a:endParaRPr>
          </a:p>
          <a:p>
            <a:endParaRPr lang="en-IN" dirty="0">
              <a:latin typeface="Monospac821 BT" panose="020B0609020202020204" pitchFamily="49" charset="0"/>
            </a:endParaRPr>
          </a:p>
          <a:p>
            <a:endParaRPr lang="en-IN" dirty="0">
              <a:latin typeface="Monospac821 BT" panose="020B0609020202020204" pitchFamily="49" charset="0"/>
            </a:endParaRPr>
          </a:p>
          <a:p>
            <a:r>
              <a:rPr lang="en-IN" dirty="0">
                <a:latin typeface="Monospac821 BT" panose="020B0609020202020204" pitchFamily="49" charset="0"/>
              </a:rPr>
              <a:t>Tailwind CSS</a:t>
            </a:r>
          </a:p>
          <a:p>
            <a:br>
              <a:rPr lang="en-IN" dirty="0">
                <a:latin typeface="Monospac821 BT" panose="020B0609020202020204" pitchFamily="49" charset="0"/>
              </a:rPr>
            </a:br>
            <a:endParaRPr lang="en-IN" dirty="0">
              <a:latin typeface="Monospac821 BT" panose="020B0609020202020204" pitchFamily="49" charset="0"/>
            </a:endParaRPr>
          </a:p>
        </p:txBody>
      </p:sp>
      <p:pic>
        <p:nvPicPr>
          <p:cNvPr id="2050" name="Picture 2">
            <a:extLst>
              <a:ext uri="{FF2B5EF4-FFF2-40B4-BE49-F238E27FC236}">
                <a16:creationId xmlns:a16="http://schemas.microsoft.com/office/drawing/2014/main" id="{4F77AFC5-FC96-15DE-F63D-852340F54D8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8450" y="3563052"/>
            <a:ext cx="478420" cy="292534"/>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0CDF34C0-6CBE-5A31-5F52-F495342FAF6C}"/>
              </a:ext>
            </a:extLst>
          </p:cNvPr>
          <p:cNvSpPr txBox="1"/>
          <p:nvPr/>
        </p:nvSpPr>
        <p:spPr>
          <a:xfrm>
            <a:off x="4077640" y="2396764"/>
            <a:ext cx="1724786" cy="1754326"/>
          </a:xfrm>
          <a:prstGeom prst="rect">
            <a:avLst/>
          </a:prstGeom>
          <a:noFill/>
        </p:spPr>
        <p:txBody>
          <a:bodyPr wrap="square" rtlCol="0">
            <a:spAutoFit/>
          </a:bodyPr>
          <a:lstStyle/>
          <a:p>
            <a:r>
              <a:rPr lang="en-IN" dirty="0" err="1">
                <a:latin typeface="Monospac821 BT" panose="020B0609020202020204" pitchFamily="49" charset="0"/>
              </a:rPr>
              <a:t>FastAPI</a:t>
            </a:r>
            <a:endParaRPr lang="en-IN" dirty="0">
              <a:latin typeface="Monospac821 BT" panose="020B0609020202020204" pitchFamily="49" charset="0"/>
            </a:endParaRPr>
          </a:p>
          <a:p>
            <a:endParaRPr lang="en-IN" dirty="0">
              <a:latin typeface="Monospac821 BT" panose="020B0609020202020204" pitchFamily="49" charset="0"/>
            </a:endParaRPr>
          </a:p>
          <a:p>
            <a:endParaRPr lang="en-IN" dirty="0">
              <a:latin typeface="Monospac821 BT" panose="020B0609020202020204" pitchFamily="49" charset="0"/>
            </a:endParaRPr>
          </a:p>
          <a:p>
            <a:endParaRPr lang="en-IN" dirty="0">
              <a:latin typeface="Monospac821 BT" panose="020B0609020202020204" pitchFamily="49" charset="0"/>
            </a:endParaRPr>
          </a:p>
          <a:p>
            <a:r>
              <a:rPr lang="en-IN" dirty="0">
                <a:latin typeface="Monospac821 BT" panose="020B0609020202020204" pitchFamily="49" charset="0"/>
              </a:rPr>
              <a:t>Python</a:t>
            </a:r>
          </a:p>
          <a:p>
            <a:endParaRPr lang="en-IN" dirty="0">
              <a:latin typeface="Monospac821 BT" panose="020B0609020202020204" pitchFamily="49" charset="0"/>
            </a:endParaRPr>
          </a:p>
        </p:txBody>
      </p:sp>
      <p:pic>
        <p:nvPicPr>
          <p:cNvPr id="44" name="Picture 43">
            <a:extLst>
              <a:ext uri="{FF2B5EF4-FFF2-40B4-BE49-F238E27FC236}">
                <a16:creationId xmlns:a16="http://schemas.microsoft.com/office/drawing/2014/main" id="{46F662C9-AA01-DB78-9B96-3601FCA8E252}"/>
              </a:ext>
            </a:extLst>
          </p:cNvPr>
          <p:cNvPicPr>
            <a:picLocks noChangeAspect="1"/>
          </p:cNvPicPr>
          <p:nvPr/>
        </p:nvPicPr>
        <p:blipFill>
          <a:blip r:embed="rId7"/>
          <a:stretch>
            <a:fillRect/>
          </a:stretch>
        </p:blipFill>
        <p:spPr>
          <a:xfrm>
            <a:off x="3674325" y="2396764"/>
            <a:ext cx="398018" cy="385039"/>
          </a:xfrm>
          <a:prstGeom prst="rect">
            <a:avLst/>
          </a:prstGeom>
        </p:spPr>
      </p:pic>
      <p:pic>
        <p:nvPicPr>
          <p:cNvPr id="46" name="Picture 45">
            <a:extLst>
              <a:ext uri="{FF2B5EF4-FFF2-40B4-BE49-F238E27FC236}">
                <a16:creationId xmlns:a16="http://schemas.microsoft.com/office/drawing/2014/main" id="{4F28D2F3-A30D-DB37-74E0-12F009C16447}"/>
              </a:ext>
            </a:extLst>
          </p:cNvPr>
          <p:cNvPicPr>
            <a:picLocks noChangeAspect="1"/>
          </p:cNvPicPr>
          <p:nvPr/>
        </p:nvPicPr>
        <p:blipFill>
          <a:blip r:embed="rId8"/>
          <a:stretch>
            <a:fillRect/>
          </a:stretch>
        </p:blipFill>
        <p:spPr>
          <a:xfrm>
            <a:off x="3674325" y="3470547"/>
            <a:ext cx="404291" cy="385039"/>
          </a:xfrm>
          <a:prstGeom prst="rect">
            <a:avLst/>
          </a:prstGeom>
        </p:spPr>
      </p:pic>
      <p:sp>
        <p:nvSpPr>
          <p:cNvPr id="47" name="TextBox 46">
            <a:extLst>
              <a:ext uri="{FF2B5EF4-FFF2-40B4-BE49-F238E27FC236}">
                <a16:creationId xmlns:a16="http://schemas.microsoft.com/office/drawing/2014/main" id="{0DEA81E7-BB5E-A173-D171-E606C65FC88A}"/>
              </a:ext>
            </a:extLst>
          </p:cNvPr>
          <p:cNvSpPr txBox="1"/>
          <p:nvPr/>
        </p:nvSpPr>
        <p:spPr>
          <a:xfrm>
            <a:off x="7049207" y="2396764"/>
            <a:ext cx="1545387" cy="1754326"/>
          </a:xfrm>
          <a:prstGeom prst="rect">
            <a:avLst/>
          </a:prstGeom>
          <a:noFill/>
        </p:spPr>
        <p:txBody>
          <a:bodyPr wrap="square" rtlCol="0">
            <a:spAutoFit/>
          </a:bodyPr>
          <a:lstStyle/>
          <a:p>
            <a:r>
              <a:rPr lang="en-IN" dirty="0" err="1">
                <a:latin typeface="Monospac821 BT" panose="020B0609020202020204" pitchFamily="49" charset="0"/>
              </a:rPr>
              <a:t>postgre</a:t>
            </a:r>
            <a:r>
              <a:rPr lang="en-IN" dirty="0">
                <a:latin typeface="Monospac821 BT" panose="020B0609020202020204" pitchFamily="49" charset="0"/>
              </a:rPr>
              <a:t> </a:t>
            </a:r>
            <a:r>
              <a:rPr lang="en-IN" dirty="0" err="1">
                <a:latin typeface="Monospac821 BT" panose="020B0609020202020204" pitchFamily="49" charset="0"/>
              </a:rPr>
              <a:t>sql</a:t>
            </a:r>
            <a:endParaRPr lang="en-IN" dirty="0">
              <a:latin typeface="Monospac821 BT" panose="020B0609020202020204" pitchFamily="49" charset="0"/>
            </a:endParaRPr>
          </a:p>
          <a:p>
            <a:endParaRPr lang="en-IN" dirty="0">
              <a:latin typeface="Monospac821 BT" panose="020B0609020202020204" pitchFamily="49" charset="0"/>
            </a:endParaRPr>
          </a:p>
          <a:p>
            <a:endParaRPr lang="en-IN" dirty="0">
              <a:latin typeface="Monospac821 BT" panose="020B0609020202020204" pitchFamily="49" charset="0"/>
            </a:endParaRPr>
          </a:p>
          <a:p>
            <a:r>
              <a:rPr lang="en-IN" dirty="0" err="1">
                <a:latin typeface="Monospac821 BT" panose="020B0609020202020204" pitchFamily="49" charset="0"/>
              </a:rPr>
              <a:t>supabase</a:t>
            </a:r>
            <a:endParaRPr lang="en-IN" dirty="0">
              <a:latin typeface="Monospac821 BT" panose="020B0609020202020204" pitchFamily="49" charset="0"/>
            </a:endParaRPr>
          </a:p>
          <a:p>
            <a:endParaRPr lang="en-IN" dirty="0">
              <a:latin typeface="Monospac821 BT" panose="020B0609020202020204" pitchFamily="49" charset="0"/>
            </a:endParaRPr>
          </a:p>
        </p:txBody>
      </p:sp>
      <p:pic>
        <p:nvPicPr>
          <p:cNvPr id="49" name="Picture 48">
            <a:extLst>
              <a:ext uri="{FF2B5EF4-FFF2-40B4-BE49-F238E27FC236}">
                <a16:creationId xmlns:a16="http://schemas.microsoft.com/office/drawing/2014/main" id="{90C3B27C-03C4-8287-E512-C94330061A44}"/>
              </a:ext>
            </a:extLst>
          </p:cNvPr>
          <p:cNvPicPr>
            <a:picLocks noChangeAspect="1"/>
          </p:cNvPicPr>
          <p:nvPr/>
        </p:nvPicPr>
        <p:blipFill>
          <a:blip r:embed="rId9"/>
          <a:stretch>
            <a:fillRect/>
          </a:stretch>
        </p:blipFill>
        <p:spPr>
          <a:xfrm>
            <a:off x="6607957" y="2446626"/>
            <a:ext cx="471545" cy="436052"/>
          </a:xfrm>
          <a:prstGeom prst="rect">
            <a:avLst/>
          </a:prstGeom>
        </p:spPr>
      </p:pic>
      <p:pic>
        <p:nvPicPr>
          <p:cNvPr id="53" name="Picture 52">
            <a:extLst>
              <a:ext uri="{FF2B5EF4-FFF2-40B4-BE49-F238E27FC236}">
                <a16:creationId xmlns:a16="http://schemas.microsoft.com/office/drawing/2014/main" id="{0B7A9E39-9E44-F7D7-3AFC-0C3478A57D0A}"/>
              </a:ext>
            </a:extLst>
          </p:cNvPr>
          <p:cNvPicPr>
            <a:picLocks noChangeAspect="1"/>
          </p:cNvPicPr>
          <p:nvPr/>
        </p:nvPicPr>
        <p:blipFill>
          <a:blip r:embed="rId10"/>
          <a:stretch>
            <a:fillRect/>
          </a:stretch>
        </p:blipFill>
        <p:spPr>
          <a:xfrm>
            <a:off x="6681483" y="3470547"/>
            <a:ext cx="398019" cy="389367"/>
          </a:xfrm>
          <a:prstGeom prst="rect">
            <a:avLst/>
          </a:prstGeom>
        </p:spPr>
      </p:pic>
      <p:pic>
        <p:nvPicPr>
          <p:cNvPr id="55" name="Picture 54">
            <a:extLst>
              <a:ext uri="{FF2B5EF4-FFF2-40B4-BE49-F238E27FC236}">
                <a16:creationId xmlns:a16="http://schemas.microsoft.com/office/drawing/2014/main" id="{A2D0DCA5-8DBB-FC37-2EF9-A90458859B20}"/>
              </a:ext>
            </a:extLst>
          </p:cNvPr>
          <p:cNvPicPr>
            <a:picLocks noChangeAspect="1"/>
          </p:cNvPicPr>
          <p:nvPr/>
        </p:nvPicPr>
        <p:blipFill>
          <a:blip r:embed="rId11"/>
          <a:stretch>
            <a:fillRect/>
          </a:stretch>
        </p:blipFill>
        <p:spPr>
          <a:xfrm>
            <a:off x="9472045" y="2301424"/>
            <a:ext cx="512950" cy="542773"/>
          </a:xfrm>
          <a:prstGeom prst="rect">
            <a:avLst/>
          </a:prstGeom>
        </p:spPr>
      </p:pic>
      <p:sp>
        <p:nvSpPr>
          <p:cNvPr id="56" name="TextBox 55">
            <a:extLst>
              <a:ext uri="{FF2B5EF4-FFF2-40B4-BE49-F238E27FC236}">
                <a16:creationId xmlns:a16="http://schemas.microsoft.com/office/drawing/2014/main" id="{9C4DEA0E-3807-D6D4-86AD-8A83C28AD95F}"/>
              </a:ext>
            </a:extLst>
          </p:cNvPr>
          <p:cNvSpPr txBox="1"/>
          <p:nvPr/>
        </p:nvSpPr>
        <p:spPr>
          <a:xfrm>
            <a:off x="9911788" y="2396764"/>
            <a:ext cx="1986058" cy="3139321"/>
          </a:xfrm>
          <a:prstGeom prst="rect">
            <a:avLst/>
          </a:prstGeom>
          <a:noFill/>
        </p:spPr>
        <p:txBody>
          <a:bodyPr wrap="square">
            <a:spAutoFit/>
          </a:bodyPr>
          <a:lstStyle/>
          <a:p>
            <a:pPr algn="l">
              <a:buNone/>
            </a:pPr>
            <a:r>
              <a:rPr lang="en-US" b="0" i="0" dirty="0">
                <a:effectLst/>
                <a:latin typeface="Monospac821 BT" panose="020B0609020202020204" pitchFamily="49" charset="0"/>
              </a:rPr>
              <a:t> CNN </a:t>
            </a:r>
            <a:endParaRPr lang="en-US" dirty="0">
              <a:latin typeface="Monospac821 BT" panose="020B0609020202020204" pitchFamily="49" charset="0"/>
            </a:endParaRPr>
          </a:p>
          <a:p>
            <a:pPr algn="l">
              <a:buNone/>
            </a:pPr>
            <a:endParaRPr lang="en-US" b="0" i="0" dirty="0">
              <a:effectLst/>
              <a:latin typeface="Monospac821 BT" panose="020B0609020202020204" pitchFamily="49" charset="0"/>
            </a:endParaRPr>
          </a:p>
          <a:p>
            <a:pPr algn="l">
              <a:buNone/>
            </a:pPr>
            <a:endParaRPr lang="en-US" dirty="0">
              <a:latin typeface="Monospac821 BT" panose="020B0609020202020204" pitchFamily="49" charset="0"/>
            </a:endParaRPr>
          </a:p>
          <a:p>
            <a:pPr algn="l">
              <a:buNone/>
            </a:pPr>
            <a:r>
              <a:rPr lang="en-US" b="0" i="0" dirty="0">
                <a:effectLst/>
                <a:latin typeface="Monospac821 BT" panose="020B0609020202020204" pitchFamily="49" charset="0"/>
              </a:rPr>
              <a:t> skin clip</a:t>
            </a:r>
          </a:p>
          <a:p>
            <a:pPr algn="l">
              <a:buNone/>
            </a:pPr>
            <a:endParaRPr lang="en-US" b="0" i="0" dirty="0">
              <a:effectLst/>
              <a:latin typeface="Monospac821 BT" panose="020B0609020202020204" pitchFamily="49" charset="0"/>
            </a:endParaRPr>
          </a:p>
          <a:p>
            <a:pPr algn="l">
              <a:buNone/>
            </a:pPr>
            <a:endParaRPr lang="en-US" dirty="0">
              <a:latin typeface="Monospac821 BT" panose="020B0609020202020204" pitchFamily="49" charset="0"/>
            </a:endParaRPr>
          </a:p>
          <a:p>
            <a:pPr algn="l">
              <a:buNone/>
            </a:pPr>
            <a:r>
              <a:rPr lang="en-US" b="0" i="0" dirty="0">
                <a:effectLst/>
                <a:latin typeface="Monospac821 BT" panose="020B0609020202020204" pitchFamily="49" charset="0"/>
              </a:rPr>
              <a:t>TensorFlow</a:t>
            </a:r>
          </a:p>
          <a:p>
            <a:pPr algn="l">
              <a:buNone/>
            </a:pPr>
            <a:endParaRPr lang="en-US" b="0" i="0" dirty="0">
              <a:effectLst/>
              <a:latin typeface="Monospac821 BT" panose="020B0609020202020204" pitchFamily="49" charset="0"/>
            </a:endParaRPr>
          </a:p>
          <a:p>
            <a:pPr algn="l">
              <a:buNone/>
            </a:pPr>
            <a:endParaRPr lang="en-US" dirty="0">
              <a:latin typeface="Monospac821 BT" panose="020B0609020202020204" pitchFamily="49" charset="0"/>
            </a:endParaRPr>
          </a:p>
          <a:p>
            <a:pPr algn="l">
              <a:buNone/>
            </a:pPr>
            <a:r>
              <a:rPr lang="en-US" b="0" i="0" dirty="0">
                <a:effectLst/>
                <a:latin typeface="Monospac821 BT" panose="020B0609020202020204" pitchFamily="49" charset="0"/>
              </a:rPr>
              <a:t>Image preprocessing</a:t>
            </a:r>
          </a:p>
        </p:txBody>
      </p:sp>
      <p:pic>
        <p:nvPicPr>
          <p:cNvPr id="58" name="Picture 57">
            <a:extLst>
              <a:ext uri="{FF2B5EF4-FFF2-40B4-BE49-F238E27FC236}">
                <a16:creationId xmlns:a16="http://schemas.microsoft.com/office/drawing/2014/main" id="{E97F49D7-E2FC-B812-5AAA-C4E5204CCFCE}"/>
              </a:ext>
            </a:extLst>
          </p:cNvPr>
          <p:cNvPicPr>
            <a:picLocks noChangeAspect="1"/>
          </p:cNvPicPr>
          <p:nvPr/>
        </p:nvPicPr>
        <p:blipFill>
          <a:blip r:embed="rId12"/>
          <a:stretch>
            <a:fillRect/>
          </a:stretch>
        </p:blipFill>
        <p:spPr>
          <a:xfrm>
            <a:off x="9462114" y="2969177"/>
            <a:ext cx="677132" cy="684185"/>
          </a:xfrm>
          <a:prstGeom prst="rect">
            <a:avLst/>
          </a:prstGeom>
        </p:spPr>
      </p:pic>
      <p:pic>
        <p:nvPicPr>
          <p:cNvPr id="60" name="Picture 59">
            <a:extLst>
              <a:ext uri="{FF2B5EF4-FFF2-40B4-BE49-F238E27FC236}">
                <a16:creationId xmlns:a16="http://schemas.microsoft.com/office/drawing/2014/main" id="{CB4AC2A5-1B6F-9775-F663-8BA39BD8090F}"/>
              </a:ext>
            </a:extLst>
          </p:cNvPr>
          <p:cNvPicPr>
            <a:picLocks noChangeAspect="1"/>
          </p:cNvPicPr>
          <p:nvPr/>
        </p:nvPicPr>
        <p:blipFill>
          <a:blip r:embed="rId13"/>
          <a:stretch>
            <a:fillRect/>
          </a:stretch>
        </p:blipFill>
        <p:spPr>
          <a:xfrm>
            <a:off x="9450308" y="3955908"/>
            <a:ext cx="534687" cy="534687"/>
          </a:xfrm>
          <a:prstGeom prst="rect">
            <a:avLst/>
          </a:prstGeom>
        </p:spPr>
      </p:pic>
      <p:pic>
        <p:nvPicPr>
          <p:cNvPr id="62" name="Picture 61">
            <a:extLst>
              <a:ext uri="{FF2B5EF4-FFF2-40B4-BE49-F238E27FC236}">
                <a16:creationId xmlns:a16="http://schemas.microsoft.com/office/drawing/2014/main" id="{945592AD-7DEE-C499-5B84-7B8D2B088939}"/>
              </a:ext>
            </a:extLst>
          </p:cNvPr>
          <p:cNvPicPr>
            <a:picLocks noChangeAspect="1"/>
          </p:cNvPicPr>
          <p:nvPr/>
        </p:nvPicPr>
        <p:blipFill>
          <a:blip r:embed="rId14"/>
          <a:stretch>
            <a:fillRect/>
          </a:stretch>
        </p:blipFill>
        <p:spPr>
          <a:xfrm>
            <a:off x="9535825" y="4793141"/>
            <a:ext cx="449170" cy="480930"/>
          </a:xfrm>
          <a:prstGeom prst="rect">
            <a:avLst/>
          </a:prstGeom>
        </p:spPr>
      </p:pic>
      <p:cxnSp>
        <p:nvCxnSpPr>
          <p:cNvPr id="2055" name="Straight Connector 2054">
            <a:extLst>
              <a:ext uri="{FF2B5EF4-FFF2-40B4-BE49-F238E27FC236}">
                <a16:creationId xmlns:a16="http://schemas.microsoft.com/office/drawing/2014/main" id="{84EA6E75-EF73-6005-DBA4-1C09B2686FCF}"/>
              </a:ext>
            </a:extLst>
          </p:cNvPr>
          <p:cNvCxnSpPr>
            <a:cxnSpLocks/>
          </p:cNvCxnSpPr>
          <p:nvPr/>
        </p:nvCxnSpPr>
        <p:spPr>
          <a:xfrm>
            <a:off x="9855102" y="1867904"/>
            <a:ext cx="177489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059" name="Straight Connector 2058">
            <a:extLst>
              <a:ext uri="{FF2B5EF4-FFF2-40B4-BE49-F238E27FC236}">
                <a16:creationId xmlns:a16="http://schemas.microsoft.com/office/drawing/2014/main" id="{67C46E0D-8C44-3E3F-945D-520777A7DD05}"/>
              </a:ext>
            </a:extLst>
          </p:cNvPr>
          <p:cNvCxnSpPr>
            <a:cxnSpLocks/>
          </p:cNvCxnSpPr>
          <p:nvPr/>
        </p:nvCxnSpPr>
        <p:spPr>
          <a:xfrm>
            <a:off x="6819697" y="1867904"/>
            <a:ext cx="177489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060" name="Straight Connector 2059">
            <a:extLst>
              <a:ext uri="{FF2B5EF4-FFF2-40B4-BE49-F238E27FC236}">
                <a16:creationId xmlns:a16="http://schemas.microsoft.com/office/drawing/2014/main" id="{7AA6CA40-20CF-6A39-ADC8-72FF429C2A42}"/>
              </a:ext>
            </a:extLst>
          </p:cNvPr>
          <p:cNvCxnSpPr>
            <a:cxnSpLocks/>
          </p:cNvCxnSpPr>
          <p:nvPr/>
        </p:nvCxnSpPr>
        <p:spPr>
          <a:xfrm>
            <a:off x="3828507" y="1867904"/>
            <a:ext cx="1774897"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061" name="Straight Connector 2060">
            <a:extLst>
              <a:ext uri="{FF2B5EF4-FFF2-40B4-BE49-F238E27FC236}">
                <a16:creationId xmlns:a16="http://schemas.microsoft.com/office/drawing/2014/main" id="{1EC4E6FB-FAA1-A1D5-4EA2-41370966EB8B}"/>
              </a:ext>
            </a:extLst>
          </p:cNvPr>
          <p:cNvCxnSpPr>
            <a:cxnSpLocks/>
          </p:cNvCxnSpPr>
          <p:nvPr/>
        </p:nvCxnSpPr>
        <p:spPr>
          <a:xfrm>
            <a:off x="812702" y="1858849"/>
            <a:ext cx="1774897" cy="0"/>
          </a:xfrm>
          <a:prstGeom prst="line">
            <a:avLst/>
          </a:prstGeom>
          <a:ln w="38100"/>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3742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E46A78-5CBF-FD6F-DB9C-DCB635F664EE}"/>
              </a:ext>
            </a:extLst>
          </p:cNvPr>
          <p:cNvSpPr txBox="1"/>
          <p:nvPr/>
        </p:nvSpPr>
        <p:spPr>
          <a:xfrm>
            <a:off x="3554663" y="285104"/>
            <a:ext cx="5364748" cy="523220"/>
          </a:xfrm>
          <a:prstGeom prst="rect">
            <a:avLst/>
          </a:prstGeom>
          <a:solidFill>
            <a:schemeClr val="accent1">
              <a:lumMod val="75000"/>
            </a:schemeClr>
          </a:solidFill>
        </p:spPr>
        <p:txBody>
          <a:bodyPr wrap="square" rtlCol="0">
            <a:spAutoFit/>
          </a:bodyPr>
          <a:lstStyle/>
          <a:p>
            <a:r>
              <a:rPr lang="en-IN" sz="2800" b="1" dirty="0">
                <a:solidFill>
                  <a:schemeClr val="bg1"/>
                </a:solidFill>
                <a:latin typeface="Monospac821 BT" panose="020B0609020202020204" pitchFamily="49" charset="0"/>
              </a:rPr>
              <a:t>CHALLENGES AND OVERCOMES</a:t>
            </a:r>
          </a:p>
        </p:txBody>
      </p:sp>
      <p:pic>
        <p:nvPicPr>
          <p:cNvPr id="3" name="Graphic 2" descr="An organic corner shape">
            <a:extLst>
              <a:ext uri="{FF2B5EF4-FFF2-40B4-BE49-F238E27FC236}">
                <a16:creationId xmlns:a16="http://schemas.microsoft.com/office/drawing/2014/main" id="{C040B589-970E-7A7C-F233-BF0A8F7AA6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266946" y="4886745"/>
            <a:ext cx="1986058" cy="1986058"/>
          </a:xfrm>
          <a:prstGeom prst="rect">
            <a:avLst/>
          </a:prstGeom>
        </p:spPr>
      </p:pic>
      <p:pic>
        <p:nvPicPr>
          <p:cNvPr id="4" name="Graphic 3" descr="An organic corner shape">
            <a:extLst>
              <a:ext uri="{FF2B5EF4-FFF2-40B4-BE49-F238E27FC236}">
                <a16:creationId xmlns:a16="http://schemas.microsoft.com/office/drawing/2014/main" id="{DC0FFBDE-2865-82BC-87DE-123D6B9699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2410535" cy="2410535"/>
          </a:xfrm>
          <a:prstGeom prst="rect">
            <a:avLst/>
          </a:prstGeom>
        </p:spPr>
      </p:pic>
      <p:sp>
        <p:nvSpPr>
          <p:cNvPr id="5" name="TextBox 4">
            <a:extLst>
              <a:ext uri="{FF2B5EF4-FFF2-40B4-BE49-F238E27FC236}">
                <a16:creationId xmlns:a16="http://schemas.microsoft.com/office/drawing/2014/main" id="{D2377AD3-4BE3-4A1F-9513-81436962DE7F}"/>
              </a:ext>
            </a:extLst>
          </p:cNvPr>
          <p:cNvSpPr txBox="1"/>
          <p:nvPr/>
        </p:nvSpPr>
        <p:spPr>
          <a:xfrm>
            <a:off x="1036321" y="1490008"/>
            <a:ext cx="4572001" cy="2123658"/>
          </a:xfrm>
          <a:prstGeom prst="rect">
            <a:avLst/>
          </a:prstGeom>
          <a:noFill/>
        </p:spPr>
        <p:txBody>
          <a:bodyPr wrap="square">
            <a:spAutoFit/>
          </a:bodyPr>
          <a:lstStyle/>
          <a:p>
            <a:pPr>
              <a:buNone/>
            </a:pPr>
            <a:r>
              <a:rPr lang="en-US" sz="1200" b="1" dirty="0">
                <a:latin typeface="Monospac821 BT" panose="020B0609020202020204" pitchFamily="49" charset="0"/>
              </a:rPr>
              <a:t>1</a:t>
            </a:r>
            <a:r>
              <a:rPr lang="en-US" sz="1200" dirty="0">
                <a:latin typeface="Monospac821 BT" panose="020B0609020202020204" pitchFamily="49" charset="0"/>
              </a:rPr>
              <a:t>. </a:t>
            </a:r>
            <a:r>
              <a:rPr lang="en-US" sz="1200" b="1" u="sng" dirty="0">
                <a:latin typeface="Monospac821 BT" panose="020B0609020202020204" pitchFamily="49" charset="0"/>
              </a:rPr>
              <a:t>Low Confidence Scores due to Unbalanced Dataset</a:t>
            </a:r>
          </a:p>
          <a:p>
            <a:endParaRPr lang="en-US" sz="1200" b="1" dirty="0">
              <a:latin typeface="Monospac821 BT" panose="020B0609020202020204" pitchFamily="49" charset="0"/>
            </a:endParaRPr>
          </a:p>
          <a:p>
            <a:r>
              <a:rPr lang="en-US" sz="1200" b="1" dirty="0">
                <a:latin typeface="Monospac821 BT" panose="020B0609020202020204" pitchFamily="49" charset="0"/>
              </a:rPr>
              <a:t>Challenge:</a:t>
            </a:r>
            <a:br>
              <a:rPr lang="en-US" sz="1200" dirty="0">
                <a:latin typeface="Monospac821 BT" panose="020B0609020202020204" pitchFamily="49" charset="0"/>
              </a:rPr>
            </a:br>
            <a:r>
              <a:rPr lang="en-US" sz="1200" dirty="0">
                <a:latin typeface="Monospac821 BT" panose="020B0609020202020204" pitchFamily="49" charset="0"/>
              </a:rPr>
              <a:t>Some skin disease classes had very few training images, leading to low prediction confidence.</a:t>
            </a:r>
          </a:p>
          <a:p>
            <a:endParaRPr lang="en-US" sz="1200" dirty="0">
              <a:latin typeface="Monospac821 BT" panose="020B0609020202020204" pitchFamily="49" charset="0"/>
            </a:endParaRPr>
          </a:p>
          <a:p>
            <a:r>
              <a:rPr lang="en-US" sz="1200" b="1" dirty="0">
                <a:latin typeface="Monospac821 BT" panose="020B0609020202020204" pitchFamily="49" charset="0"/>
              </a:rPr>
              <a:t>Solution:</a:t>
            </a:r>
            <a:br>
              <a:rPr lang="en-US" sz="1200" dirty="0">
                <a:latin typeface="Monospac821 BT" panose="020B0609020202020204" pitchFamily="49" charset="0"/>
              </a:rPr>
            </a:br>
            <a:r>
              <a:rPr lang="en-US" sz="1200" dirty="0">
                <a:latin typeface="Monospac821 BT" panose="020B0609020202020204" pitchFamily="49" charset="0"/>
              </a:rPr>
              <a:t>Applied </a:t>
            </a:r>
            <a:r>
              <a:rPr lang="en-US" sz="1200" b="1" dirty="0">
                <a:latin typeface="Monospac821 BT" panose="020B0609020202020204" pitchFamily="49" charset="0"/>
              </a:rPr>
              <a:t>data augmentation techniques</a:t>
            </a:r>
            <a:r>
              <a:rPr lang="en-US" sz="1200" dirty="0">
                <a:latin typeface="Monospac821 BT" panose="020B0609020202020204" pitchFamily="49" charset="0"/>
              </a:rPr>
              <a:t> to </a:t>
            </a:r>
          </a:p>
          <a:p>
            <a:r>
              <a:rPr lang="en-US" sz="1200" dirty="0">
                <a:latin typeface="Monospac821 BT" panose="020B0609020202020204" pitchFamily="49" charset="0"/>
              </a:rPr>
              <a:t>balance the dataset and improve model confidence.</a:t>
            </a:r>
          </a:p>
        </p:txBody>
      </p:sp>
      <p:sp>
        <p:nvSpPr>
          <p:cNvPr id="6" name="TextBox 5">
            <a:extLst>
              <a:ext uri="{FF2B5EF4-FFF2-40B4-BE49-F238E27FC236}">
                <a16:creationId xmlns:a16="http://schemas.microsoft.com/office/drawing/2014/main" id="{6E29BC4A-41D4-1D48-EA1D-B5BC1BDE16F9}"/>
              </a:ext>
            </a:extLst>
          </p:cNvPr>
          <p:cNvSpPr txBox="1"/>
          <p:nvPr/>
        </p:nvSpPr>
        <p:spPr>
          <a:xfrm>
            <a:off x="1087784" y="3960454"/>
            <a:ext cx="4369868" cy="2123658"/>
          </a:xfrm>
          <a:prstGeom prst="rect">
            <a:avLst/>
          </a:prstGeom>
          <a:noFill/>
        </p:spPr>
        <p:txBody>
          <a:bodyPr wrap="square">
            <a:spAutoFit/>
          </a:bodyPr>
          <a:lstStyle/>
          <a:p>
            <a:pPr>
              <a:buNone/>
            </a:pPr>
            <a:r>
              <a:rPr lang="en-US" sz="1200" b="1" u="sng" dirty="0">
                <a:latin typeface="Monospac821 BT" panose="020B0609020202020204" pitchFamily="49" charset="0"/>
              </a:rPr>
              <a:t>2. Poor Generalization Beyond Trained Classes</a:t>
            </a:r>
          </a:p>
          <a:p>
            <a:pPr>
              <a:buNone/>
            </a:pPr>
            <a:endParaRPr lang="en-US" sz="1200" b="1" u="sng" dirty="0">
              <a:latin typeface="Monospac821 BT" panose="020B0609020202020204" pitchFamily="49" charset="0"/>
            </a:endParaRPr>
          </a:p>
          <a:p>
            <a:r>
              <a:rPr lang="en-US" sz="1200" b="1" dirty="0">
                <a:latin typeface="Monospac821 BT" panose="020B0609020202020204" pitchFamily="49" charset="0"/>
              </a:rPr>
              <a:t>Challenge:</a:t>
            </a:r>
            <a:br>
              <a:rPr lang="en-US" sz="1200" b="1" dirty="0">
                <a:latin typeface="Monospac821 BT" panose="020B0609020202020204" pitchFamily="49" charset="0"/>
              </a:rPr>
            </a:br>
            <a:r>
              <a:rPr lang="en-US" sz="1200" dirty="0">
                <a:latin typeface="Monospac821 BT" panose="020B0609020202020204" pitchFamily="49" charset="0"/>
              </a:rPr>
              <a:t>The model struggled to accurately detect skin conditions outside the trained categories.</a:t>
            </a:r>
          </a:p>
          <a:p>
            <a:pPr>
              <a:buFont typeface="Arial" panose="020B0604020202020204" pitchFamily="34" charset="0"/>
              <a:buChar char="•"/>
            </a:pPr>
            <a:endParaRPr lang="en-US" sz="1200" b="1" dirty="0">
              <a:latin typeface="Monospac821 BT" panose="020B0609020202020204" pitchFamily="49" charset="0"/>
            </a:endParaRPr>
          </a:p>
          <a:p>
            <a:r>
              <a:rPr lang="en-US" sz="1200" b="1" dirty="0">
                <a:latin typeface="Monospac821 BT" panose="020B0609020202020204" pitchFamily="49" charset="0"/>
              </a:rPr>
              <a:t>Solution:</a:t>
            </a:r>
            <a:br>
              <a:rPr lang="en-US" sz="1200" b="1" dirty="0">
                <a:latin typeface="Monospac821 BT" panose="020B0609020202020204" pitchFamily="49" charset="0"/>
              </a:rPr>
            </a:br>
            <a:r>
              <a:rPr lang="en-US" sz="1200" dirty="0">
                <a:latin typeface="Monospac821 BT" panose="020B0609020202020204" pitchFamily="49" charset="0"/>
              </a:rPr>
              <a:t>Improved feature extraction and used regularization techniques to help the </a:t>
            </a:r>
          </a:p>
          <a:p>
            <a:r>
              <a:rPr lang="en-US" sz="1200" dirty="0">
                <a:latin typeface="Monospac821 BT" panose="020B0609020202020204" pitchFamily="49" charset="0"/>
              </a:rPr>
              <a:t>model generalize better to unseen skin patterns</a:t>
            </a:r>
          </a:p>
        </p:txBody>
      </p:sp>
      <p:sp>
        <p:nvSpPr>
          <p:cNvPr id="7" name="TextBox 6">
            <a:extLst>
              <a:ext uri="{FF2B5EF4-FFF2-40B4-BE49-F238E27FC236}">
                <a16:creationId xmlns:a16="http://schemas.microsoft.com/office/drawing/2014/main" id="{E41A0C3E-1880-E2DF-815F-7C30A72CBAA9}"/>
              </a:ext>
            </a:extLst>
          </p:cNvPr>
          <p:cNvSpPr txBox="1"/>
          <p:nvPr/>
        </p:nvSpPr>
        <p:spPr>
          <a:xfrm>
            <a:off x="6857999" y="1490008"/>
            <a:ext cx="4572000" cy="2123658"/>
          </a:xfrm>
          <a:prstGeom prst="rect">
            <a:avLst/>
          </a:prstGeom>
          <a:noFill/>
        </p:spPr>
        <p:txBody>
          <a:bodyPr wrap="square">
            <a:spAutoFit/>
          </a:bodyPr>
          <a:lstStyle/>
          <a:p>
            <a:pPr algn="l">
              <a:buNone/>
            </a:pPr>
            <a:r>
              <a:rPr lang="en-US" sz="1200" b="1" i="0" dirty="0">
                <a:effectLst/>
                <a:latin typeface="Monospac821 BT" panose="020B0609020202020204" pitchFamily="49" charset="0"/>
              </a:rPr>
              <a:t>3.</a:t>
            </a:r>
            <a:r>
              <a:rPr lang="en-US" sz="1200" b="1" i="0" u="sng" dirty="0">
                <a:effectLst/>
                <a:latin typeface="Monospac821 BT" panose="020B0609020202020204" pitchFamily="49" charset="0"/>
              </a:rPr>
              <a:t>Inaccurate Hospital Results Based on Location</a:t>
            </a:r>
          </a:p>
          <a:p>
            <a:pPr algn="l">
              <a:buNone/>
            </a:pPr>
            <a:endParaRPr lang="en-US" sz="1200" b="1" i="0" dirty="0">
              <a:effectLst/>
              <a:latin typeface="Monospac821 BT" panose="020B0609020202020204" pitchFamily="49" charset="0"/>
            </a:endParaRPr>
          </a:p>
          <a:p>
            <a:pPr algn="l">
              <a:buNone/>
            </a:pPr>
            <a:r>
              <a:rPr lang="en-US" sz="1200" b="1" i="0" dirty="0">
                <a:effectLst/>
                <a:latin typeface="Monospac821 BT" panose="020B0609020202020204" pitchFamily="49" charset="0"/>
              </a:rPr>
              <a:t>Challenge:</a:t>
            </a:r>
          </a:p>
          <a:p>
            <a:pPr algn="l">
              <a:buNone/>
            </a:pPr>
            <a:r>
              <a:rPr lang="en-US" sz="1200" i="0" dirty="0">
                <a:effectLst/>
                <a:latin typeface="Monospac821 BT" panose="020B0609020202020204" pitchFamily="49" charset="0"/>
              </a:rPr>
              <a:t>Hospitals were not updating correctly when the user changed city or state.</a:t>
            </a:r>
          </a:p>
          <a:p>
            <a:pPr algn="l">
              <a:buNone/>
            </a:pPr>
            <a:endParaRPr lang="en-US" sz="1200" b="1" i="0" dirty="0">
              <a:effectLst/>
              <a:latin typeface="Monospac821 BT" panose="020B0609020202020204" pitchFamily="49" charset="0"/>
            </a:endParaRPr>
          </a:p>
          <a:p>
            <a:pPr algn="l">
              <a:buNone/>
            </a:pPr>
            <a:r>
              <a:rPr lang="en-US" sz="1200" b="1" i="0" dirty="0">
                <a:effectLst/>
                <a:latin typeface="Monospac821 BT" panose="020B0609020202020204" pitchFamily="49" charset="0"/>
              </a:rPr>
              <a:t>Solution:</a:t>
            </a:r>
          </a:p>
          <a:p>
            <a:pPr algn="l">
              <a:buNone/>
            </a:pPr>
            <a:r>
              <a:rPr lang="en-US" sz="1200" i="0" dirty="0">
                <a:effectLst/>
                <a:latin typeface="Monospac821 BT" panose="020B0609020202020204" pitchFamily="49" charset="0"/>
              </a:rPr>
              <a:t>We decoupled skin analysis from location logic and implemented dynamic hospital fetching using city</a:t>
            </a:r>
            <a:r>
              <a:rPr lang="en-US" sz="1200" dirty="0">
                <a:latin typeface="Monospac821 BT" panose="020B0609020202020204" pitchFamily="49" charset="0"/>
              </a:rPr>
              <a:t> or </a:t>
            </a:r>
            <a:r>
              <a:rPr lang="en-US" sz="1200" i="0" dirty="0">
                <a:effectLst/>
                <a:latin typeface="Monospac821 BT" panose="020B0609020202020204" pitchFamily="49" charset="0"/>
              </a:rPr>
              <a:t>state-based APIs, ensuring hospitals update automatically without re-analysis.</a:t>
            </a:r>
          </a:p>
        </p:txBody>
      </p:sp>
      <p:sp>
        <p:nvSpPr>
          <p:cNvPr id="8" name="TextBox 7">
            <a:extLst>
              <a:ext uri="{FF2B5EF4-FFF2-40B4-BE49-F238E27FC236}">
                <a16:creationId xmlns:a16="http://schemas.microsoft.com/office/drawing/2014/main" id="{D5682E4B-FB92-F5FB-2F3D-DE4ABA32868F}"/>
              </a:ext>
            </a:extLst>
          </p:cNvPr>
          <p:cNvSpPr txBox="1"/>
          <p:nvPr/>
        </p:nvSpPr>
        <p:spPr>
          <a:xfrm>
            <a:off x="6939182" y="3960454"/>
            <a:ext cx="4409635" cy="2123658"/>
          </a:xfrm>
          <a:prstGeom prst="rect">
            <a:avLst/>
          </a:prstGeom>
          <a:noFill/>
        </p:spPr>
        <p:txBody>
          <a:bodyPr wrap="square">
            <a:spAutoFit/>
          </a:bodyPr>
          <a:lstStyle/>
          <a:p>
            <a:pPr algn="l">
              <a:buNone/>
            </a:pPr>
            <a:r>
              <a:rPr lang="en-IN" sz="1200" b="1" i="0" dirty="0">
                <a:effectLst/>
                <a:latin typeface="Monospac821 BT" panose="020B0609020202020204" pitchFamily="49" charset="0"/>
              </a:rPr>
              <a:t>4.</a:t>
            </a:r>
            <a:r>
              <a:rPr lang="en-IN" sz="1200" b="1" i="0" u="sng" dirty="0">
                <a:effectLst/>
                <a:latin typeface="Monospac821 BT" panose="020B0609020202020204" pitchFamily="49" charset="0"/>
              </a:rPr>
              <a:t>API &amp; Location Integration Issues</a:t>
            </a:r>
          </a:p>
          <a:p>
            <a:pPr algn="l">
              <a:buNone/>
            </a:pPr>
            <a:endParaRPr lang="en-IN" sz="1200" b="1" i="0" dirty="0">
              <a:effectLst/>
              <a:latin typeface="Monospac821 BT" panose="020B0609020202020204" pitchFamily="49" charset="0"/>
            </a:endParaRPr>
          </a:p>
          <a:p>
            <a:pPr algn="l">
              <a:buNone/>
            </a:pPr>
            <a:r>
              <a:rPr lang="en-IN" sz="1200" b="1" i="0" dirty="0">
                <a:effectLst/>
                <a:latin typeface="Monospac821 BT" panose="020B0609020202020204" pitchFamily="49" charset="0"/>
              </a:rPr>
              <a:t>Challenge:</a:t>
            </a:r>
          </a:p>
          <a:p>
            <a:pPr algn="l">
              <a:buNone/>
            </a:pPr>
            <a:r>
              <a:rPr lang="en-IN" sz="1200" i="0" dirty="0">
                <a:effectLst/>
                <a:latin typeface="Monospac821 BT" panose="020B0609020202020204" pitchFamily="49" charset="0"/>
              </a:rPr>
              <a:t>Geocoding failures and missing API keys caused empty hospital results</a:t>
            </a:r>
            <a:r>
              <a:rPr lang="en-IN" sz="1200" b="1" i="0" dirty="0">
                <a:effectLst/>
                <a:latin typeface="Monospac821 BT" panose="020B0609020202020204" pitchFamily="49" charset="0"/>
              </a:rPr>
              <a:t>.</a:t>
            </a:r>
          </a:p>
          <a:p>
            <a:pPr algn="l">
              <a:buNone/>
            </a:pPr>
            <a:endParaRPr lang="en-IN" sz="1200" b="1" i="0" dirty="0">
              <a:effectLst/>
              <a:latin typeface="Monospac821 BT" panose="020B0609020202020204" pitchFamily="49" charset="0"/>
            </a:endParaRPr>
          </a:p>
          <a:p>
            <a:pPr algn="l">
              <a:buNone/>
            </a:pPr>
            <a:r>
              <a:rPr lang="en-IN" sz="1200" b="1" i="0" dirty="0">
                <a:effectLst/>
                <a:latin typeface="Monospac821 BT" panose="020B0609020202020204" pitchFamily="49" charset="0"/>
              </a:rPr>
              <a:t>Solution:</a:t>
            </a:r>
          </a:p>
          <a:p>
            <a:pPr algn="l">
              <a:buNone/>
            </a:pPr>
            <a:r>
              <a:rPr lang="en-IN" sz="1200" i="0" dirty="0">
                <a:effectLst/>
                <a:latin typeface="Monospac821 BT" panose="020B0609020202020204" pitchFamily="49" charset="0"/>
              </a:rPr>
              <a:t>We properly configured environment variables, added fallback error handling, and validated API responses to ensure stable location-based data retrieval.</a:t>
            </a:r>
          </a:p>
        </p:txBody>
      </p:sp>
      <p:pic>
        <p:nvPicPr>
          <p:cNvPr id="11" name="Picture 10">
            <a:extLst>
              <a:ext uri="{FF2B5EF4-FFF2-40B4-BE49-F238E27FC236}">
                <a16:creationId xmlns:a16="http://schemas.microsoft.com/office/drawing/2014/main" id="{F79E2B4D-8252-0561-3896-7645915C4DEE}"/>
              </a:ext>
            </a:extLst>
          </p:cNvPr>
          <p:cNvPicPr>
            <a:picLocks noChangeAspect="1"/>
          </p:cNvPicPr>
          <p:nvPr/>
        </p:nvPicPr>
        <p:blipFill>
          <a:blip r:embed="rId4"/>
          <a:stretch>
            <a:fillRect/>
          </a:stretch>
        </p:blipFill>
        <p:spPr>
          <a:xfrm>
            <a:off x="623820" y="2065655"/>
            <a:ext cx="513059" cy="523219"/>
          </a:xfrm>
          <a:prstGeom prst="rect">
            <a:avLst/>
          </a:prstGeom>
        </p:spPr>
      </p:pic>
      <p:pic>
        <p:nvPicPr>
          <p:cNvPr id="13" name="Picture 12">
            <a:extLst>
              <a:ext uri="{FF2B5EF4-FFF2-40B4-BE49-F238E27FC236}">
                <a16:creationId xmlns:a16="http://schemas.microsoft.com/office/drawing/2014/main" id="{6A10362C-90D5-ADC2-41E6-CF97BB354C58}"/>
              </a:ext>
            </a:extLst>
          </p:cNvPr>
          <p:cNvPicPr>
            <a:picLocks noChangeAspect="1"/>
          </p:cNvPicPr>
          <p:nvPr/>
        </p:nvPicPr>
        <p:blipFill>
          <a:blip r:embed="rId5"/>
          <a:stretch>
            <a:fillRect/>
          </a:stretch>
        </p:blipFill>
        <p:spPr>
          <a:xfrm>
            <a:off x="5352882" y="4521105"/>
            <a:ext cx="510880" cy="523220"/>
          </a:xfrm>
          <a:prstGeom prst="rect">
            <a:avLst/>
          </a:prstGeom>
        </p:spPr>
      </p:pic>
      <p:pic>
        <p:nvPicPr>
          <p:cNvPr id="16" name="Graphic 15" descr="Hospital outline">
            <a:extLst>
              <a:ext uri="{FF2B5EF4-FFF2-40B4-BE49-F238E27FC236}">
                <a16:creationId xmlns:a16="http://schemas.microsoft.com/office/drawing/2014/main" id="{E05B6B94-B8F0-6B58-F547-4634764F922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87837" y="1744722"/>
            <a:ext cx="641866" cy="641866"/>
          </a:xfrm>
          <a:prstGeom prst="rect">
            <a:avLst/>
          </a:prstGeom>
        </p:spPr>
      </p:pic>
      <p:pic>
        <p:nvPicPr>
          <p:cNvPr id="18" name="Picture 17">
            <a:extLst>
              <a:ext uri="{FF2B5EF4-FFF2-40B4-BE49-F238E27FC236}">
                <a16:creationId xmlns:a16="http://schemas.microsoft.com/office/drawing/2014/main" id="{1597DDA2-5AE8-6F27-341B-113290ABC34F}"/>
              </a:ext>
            </a:extLst>
          </p:cNvPr>
          <p:cNvPicPr>
            <a:picLocks noChangeAspect="1"/>
          </p:cNvPicPr>
          <p:nvPr/>
        </p:nvPicPr>
        <p:blipFill>
          <a:blip r:embed="rId8"/>
          <a:stretch>
            <a:fillRect/>
          </a:stretch>
        </p:blipFill>
        <p:spPr>
          <a:xfrm>
            <a:off x="10673056" y="4480670"/>
            <a:ext cx="521382" cy="487569"/>
          </a:xfrm>
          <a:prstGeom prst="rect">
            <a:avLst/>
          </a:prstGeom>
        </p:spPr>
      </p:pic>
      <p:pic>
        <p:nvPicPr>
          <p:cNvPr id="20" name="Graphic 19" descr="Magnifying glass with solid fill">
            <a:extLst>
              <a:ext uri="{FF2B5EF4-FFF2-40B4-BE49-F238E27FC236}">
                <a16:creationId xmlns:a16="http://schemas.microsoft.com/office/drawing/2014/main" id="{8E42AA26-294D-3987-7E4F-7AA99AE544E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58757" y="3021420"/>
            <a:ext cx="592246" cy="592246"/>
          </a:xfrm>
          <a:prstGeom prst="rect">
            <a:avLst/>
          </a:prstGeom>
        </p:spPr>
      </p:pic>
      <p:pic>
        <p:nvPicPr>
          <p:cNvPr id="22" name="Graphic 21" descr="Marker with solid fill">
            <a:extLst>
              <a:ext uri="{FF2B5EF4-FFF2-40B4-BE49-F238E27FC236}">
                <a16:creationId xmlns:a16="http://schemas.microsoft.com/office/drawing/2014/main" id="{1220E074-9A2B-F9E9-5928-1093A6D5612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155679" y="2828161"/>
            <a:ext cx="650235" cy="650235"/>
          </a:xfrm>
          <a:prstGeom prst="rect">
            <a:avLst/>
          </a:prstGeom>
        </p:spPr>
      </p:pic>
      <p:pic>
        <p:nvPicPr>
          <p:cNvPr id="25" name="Graphic 24" descr="Gears with solid fill">
            <a:extLst>
              <a:ext uri="{FF2B5EF4-FFF2-40B4-BE49-F238E27FC236}">
                <a16:creationId xmlns:a16="http://schemas.microsoft.com/office/drawing/2014/main" id="{AB23079E-A0F1-976B-BC64-9C58C84D7F12}"/>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480796" y="3084588"/>
            <a:ext cx="413586" cy="413586"/>
          </a:xfrm>
          <a:prstGeom prst="rect">
            <a:avLst/>
          </a:prstGeom>
        </p:spPr>
      </p:pic>
      <p:pic>
        <p:nvPicPr>
          <p:cNvPr id="35" name="Graphic 34" descr="Wrench with solid fill">
            <a:extLst>
              <a:ext uri="{FF2B5EF4-FFF2-40B4-BE49-F238E27FC236}">
                <a16:creationId xmlns:a16="http://schemas.microsoft.com/office/drawing/2014/main" id="{2E085D8E-E42F-72FD-0D86-1748A360A6A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71467" y="5354009"/>
            <a:ext cx="525765" cy="525765"/>
          </a:xfrm>
          <a:prstGeom prst="rect">
            <a:avLst/>
          </a:prstGeom>
        </p:spPr>
      </p:pic>
      <p:pic>
        <p:nvPicPr>
          <p:cNvPr id="38" name="Graphic 37" descr="Brain with solid fill">
            <a:extLst>
              <a:ext uri="{FF2B5EF4-FFF2-40B4-BE49-F238E27FC236}">
                <a16:creationId xmlns:a16="http://schemas.microsoft.com/office/drawing/2014/main" id="{9F7511FC-6DE6-B9A3-B541-8D8711BF9DB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599727" y="5437932"/>
            <a:ext cx="605540" cy="605540"/>
          </a:xfrm>
          <a:prstGeom prst="rect">
            <a:avLst/>
          </a:prstGeom>
        </p:spPr>
      </p:pic>
    </p:spTree>
    <p:extLst>
      <p:ext uri="{BB962C8B-B14F-4D97-AF65-F5344CB8AC3E}">
        <p14:creationId xmlns:p14="http://schemas.microsoft.com/office/powerpoint/2010/main" val="375202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84D3BF-5FC9-3A62-E587-BE00F6820AB2}"/>
              </a:ext>
            </a:extLst>
          </p:cNvPr>
          <p:cNvSpPr txBox="1"/>
          <p:nvPr/>
        </p:nvSpPr>
        <p:spPr>
          <a:xfrm>
            <a:off x="4665945" y="285103"/>
            <a:ext cx="2860109" cy="523220"/>
          </a:xfrm>
          <a:prstGeom prst="rect">
            <a:avLst/>
          </a:prstGeom>
          <a:solidFill>
            <a:schemeClr val="accent1">
              <a:lumMod val="75000"/>
            </a:schemeClr>
          </a:solidFill>
        </p:spPr>
        <p:txBody>
          <a:bodyPr wrap="square" rtlCol="0">
            <a:spAutoFit/>
          </a:bodyPr>
          <a:lstStyle/>
          <a:p>
            <a:r>
              <a:rPr lang="en-IN" sz="2800" b="1" dirty="0">
                <a:solidFill>
                  <a:schemeClr val="bg1"/>
                </a:solidFill>
                <a:latin typeface="Monospac821 BT" panose="020B0609020202020204" pitchFamily="49" charset="0"/>
              </a:rPr>
              <a:t>FUTURE SCOPE</a:t>
            </a:r>
          </a:p>
        </p:txBody>
      </p:sp>
      <p:pic>
        <p:nvPicPr>
          <p:cNvPr id="3" name="Graphic 2" descr="An organic corner shape">
            <a:extLst>
              <a:ext uri="{FF2B5EF4-FFF2-40B4-BE49-F238E27FC236}">
                <a16:creationId xmlns:a16="http://schemas.microsoft.com/office/drawing/2014/main" id="{3C7B0F2E-176F-BD10-5E52-0836FBD988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266946" y="4886745"/>
            <a:ext cx="1986058" cy="1986058"/>
          </a:xfrm>
          <a:prstGeom prst="rect">
            <a:avLst/>
          </a:prstGeom>
        </p:spPr>
      </p:pic>
      <p:pic>
        <p:nvPicPr>
          <p:cNvPr id="4" name="Graphic 3" descr="An organic corner shape">
            <a:extLst>
              <a:ext uri="{FF2B5EF4-FFF2-40B4-BE49-F238E27FC236}">
                <a16:creationId xmlns:a16="http://schemas.microsoft.com/office/drawing/2014/main" id="{CFDED4CB-88E1-4222-2B6B-A45692FAF3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88" y="-13771"/>
            <a:ext cx="2410535" cy="2410535"/>
          </a:xfrm>
          <a:prstGeom prst="rect">
            <a:avLst/>
          </a:prstGeom>
        </p:spPr>
      </p:pic>
      <p:pic>
        <p:nvPicPr>
          <p:cNvPr id="14" name="Graphic 13" descr="Robot with solid fill">
            <a:extLst>
              <a:ext uri="{FF2B5EF4-FFF2-40B4-BE49-F238E27FC236}">
                <a16:creationId xmlns:a16="http://schemas.microsoft.com/office/drawing/2014/main" id="{D02E73F1-2B6B-B298-602F-B837DAF62E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344" y="4944979"/>
            <a:ext cx="1788694" cy="1788694"/>
          </a:xfrm>
          <a:prstGeom prst="rect">
            <a:avLst/>
          </a:prstGeom>
        </p:spPr>
      </p:pic>
      <p:sp>
        <p:nvSpPr>
          <p:cNvPr id="17" name="Rectangle: Rounded Corners 16">
            <a:extLst>
              <a:ext uri="{FF2B5EF4-FFF2-40B4-BE49-F238E27FC236}">
                <a16:creationId xmlns:a16="http://schemas.microsoft.com/office/drawing/2014/main" id="{5AA1D8B2-8C46-C601-6408-0EEDE21CD771}"/>
              </a:ext>
            </a:extLst>
          </p:cNvPr>
          <p:cNvSpPr/>
          <p:nvPr/>
        </p:nvSpPr>
        <p:spPr>
          <a:xfrm>
            <a:off x="371963" y="1913021"/>
            <a:ext cx="3519418" cy="254221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B8625B46-F54F-8FC1-2962-8DDEBEE652D6}"/>
              </a:ext>
            </a:extLst>
          </p:cNvPr>
          <p:cNvSpPr/>
          <p:nvPr/>
        </p:nvSpPr>
        <p:spPr>
          <a:xfrm>
            <a:off x="4336290" y="1913020"/>
            <a:ext cx="3519418" cy="254221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89686788-970E-8FE1-1D7A-70DFB16E004D}"/>
              </a:ext>
            </a:extLst>
          </p:cNvPr>
          <p:cNvSpPr/>
          <p:nvPr/>
        </p:nvSpPr>
        <p:spPr>
          <a:xfrm>
            <a:off x="8300619" y="1919017"/>
            <a:ext cx="3519418" cy="2542219"/>
          </a:xfrm>
          <a:prstGeom prst="roundRect">
            <a:avLst/>
          </a:prstGeom>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16" name="Picture 15">
            <a:extLst>
              <a:ext uri="{FF2B5EF4-FFF2-40B4-BE49-F238E27FC236}">
                <a16:creationId xmlns:a16="http://schemas.microsoft.com/office/drawing/2014/main" id="{A2203B27-0593-2F16-A1BA-6C6110E3C7E2}"/>
              </a:ext>
            </a:extLst>
          </p:cNvPr>
          <p:cNvPicPr>
            <a:picLocks noChangeAspect="1"/>
          </p:cNvPicPr>
          <p:nvPr/>
        </p:nvPicPr>
        <p:blipFill>
          <a:blip r:embed="rId6"/>
          <a:stretch>
            <a:fillRect/>
          </a:stretch>
        </p:blipFill>
        <p:spPr>
          <a:xfrm>
            <a:off x="1595692" y="1435830"/>
            <a:ext cx="1019762" cy="1048581"/>
          </a:xfrm>
          <a:prstGeom prst="rect">
            <a:avLst/>
          </a:prstGeom>
        </p:spPr>
      </p:pic>
      <p:sp>
        <p:nvSpPr>
          <p:cNvPr id="11" name="TextBox 10">
            <a:extLst>
              <a:ext uri="{FF2B5EF4-FFF2-40B4-BE49-F238E27FC236}">
                <a16:creationId xmlns:a16="http://schemas.microsoft.com/office/drawing/2014/main" id="{C663E42C-284D-C515-B5DA-8A9DF241E8A9}"/>
              </a:ext>
            </a:extLst>
          </p:cNvPr>
          <p:cNvSpPr txBox="1"/>
          <p:nvPr/>
        </p:nvSpPr>
        <p:spPr>
          <a:xfrm>
            <a:off x="627458" y="2614582"/>
            <a:ext cx="3263921" cy="1384995"/>
          </a:xfrm>
          <a:prstGeom prst="rect">
            <a:avLst/>
          </a:prstGeom>
          <a:noFill/>
        </p:spPr>
        <p:txBody>
          <a:bodyPr wrap="square" rtlCol="0">
            <a:spAutoFit/>
          </a:bodyPr>
          <a:lstStyle/>
          <a:p>
            <a:r>
              <a:rPr lang="en-US" sz="1400" dirty="0">
                <a:latin typeface="Monospac821 BT" panose="020B0609020202020204" pitchFamily="49" charset="0"/>
              </a:rPr>
              <a:t>The system can be expanded by training the model on a larger and more diverse dataset to detect additional skin conditions with higher accuracy and reliability.</a:t>
            </a:r>
            <a:endParaRPr lang="en-IN" sz="1400" dirty="0">
              <a:latin typeface="Monospac821 BT" panose="020B0609020202020204" pitchFamily="49" charset="0"/>
            </a:endParaRPr>
          </a:p>
        </p:txBody>
      </p:sp>
      <p:sp>
        <p:nvSpPr>
          <p:cNvPr id="12" name="TextBox 11">
            <a:extLst>
              <a:ext uri="{FF2B5EF4-FFF2-40B4-BE49-F238E27FC236}">
                <a16:creationId xmlns:a16="http://schemas.microsoft.com/office/drawing/2014/main" id="{14DE0BDA-981B-C1D6-7B49-A43F509819AC}"/>
              </a:ext>
            </a:extLst>
          </p:cNvPr>
          <p:cNvSpPr txBox="1"/>
          <p:nvPr/>
        </p:nvSpPr>
        <p:spPr>
          <a:xfrm>
            <a:off x="4450503" y="2614582"/>
            <a:ext cx="3405205" cy="1384995"/>
          </a:xfrm>
          <a:prstGeom prst="rect">
            <a:avLst/>
          </a:prstGeom>
          <a:noFill/>
        </p:spPr>
        <p:txBody>
          <a:bodyPr wrap="square">
            <a:spAutoFit/>
          </a:bodyPr>
          <a:lstStyle/>
          <a:p>
            <a:r>
              <a:rPr lang="en-US" sz="1400" dirty="0">
                <a:latin typeface="Monospac821 BT" panose="020B0609020202020204" pitchFamily="49" charset="0"/>
              </a:rPr>
              <a:t>Developing a mobile application will make the system more accessible, allowing users to capture images and receive predictions anytime and anywhere.</a:t>
            </a:r>
            <a:endParaRPr lang="en-IN" sz="1400" dirty="0">
              <a:latin typeface="Monospac821 BT" panose="020B0609020202020204" pitchFamily="49" charset="0"/>
            </a:endParaRPr>
          </a:p>
        </p:txBody>
      </p:sp>
      <p:sp>
        <p:nvSpPr>
          <p:cNvPr id="13" name="TextBox 12">
            <a:extLst>
              <a:ext uri="{FF2B5EF4-FFF2-40B4-BE49-F238E27FC236}">
                <a16:creationId xmlns:a16="http://schemas.microsoft.com/office/drawing/2014/main" id="{84FC2AD3-F998-A848-962E-30D9F0D60516}"/>
              </a:ext>
            </a:extLst>
          </p:cNvPr>
          <p:cNvSpPr txBox="1"/>
          <p:nvPr/>
        </p:nvSpPr>
        <p:spPr>
          <a:xfrm>
            <a:off x="8593426" y="2614582"/>
            <a:ext cx="3121054" cy="1591658"/>
          </a:xfrm>
          <a:prstGeom prst="rect">
            <a:avLst/>
          </a:prstGeom>
          <a:noFill/>
        </p:spPr>
        <p:txBody>
          <a:bodyPr wrap="square">
            <a:spAutoFit/>
          </a:bodyPr>
          <a:lstStyle/>
          <a:p>
            <a:r>
              <a:rPr lang="en-US" sz="1400" dirty="0">
                <a:latin typeface="Monospac821 BT" panose="020B0609020202020204" pitchFamily="49" charset="0"/>
              </a:rPr>
              <a:t>Integrating a consultation module will enable users to directly connect with dermatologists for expert advice, improving diagnosis validation and treatment guidance.</a:t>
            </a:r>
            <a:endParaRPr lang="en-IN" sz="1400" dirty="0">
              <a:latin typeface="Monospac821 BT" panose="020B0609020202020204" pitchFamily="49" charset="0"/>
            </a:endParaRPr>
          </a:p>
        </p:txBody>
      </p:sp>
      <p:pic>
        <p:nvPicPr>
          <p:cNvPr id="8" name="Picture 7">
            <a:extLst>
              <a:ext uri="{FF2B5EF4-FFF2-40B4-BE49-F238E27FC236}">
                <a16:creationId xmlns:a16="http://schemas.microsoft.com/office/drawing/2014/main" id="{AE3C7441-7328-4EDF-6E5A-17CD734AB050}"/>
              </a:ext>
            </a:extLst>
          </p:cNvPr>
          <p:cNvPicPr>
            <a:picLocks noChangeAspect="1"/>
          </p:cNvPicPr>
          <p:nvPr/>
        </p:nvPicPr>
        <p:blipFill>
          <a:blip r:embed="rId7"/>
          <a:srcRect t="-573"/>
          <a:stretch>
            <a:fillRect/>
          </a:stretch>
        </p:blipFill>
        <p:spPr>
          <a:xfrm>
            <a:off x="9576542" y="1435828"/>
            <a:ext cx="1019764" cy="1048583"/>
          </a:xfrm>
          <a:prstGeom prst="rect">
            <a:avLst/>
          </a:prstGeom>
        </p:spPr>
      </p:pic>
      <p:pic>
        <p:nvPicPr>
          <p:cNvPr id="10" name="Picture 9">
            <a:extLst>
              <a:ext uri="{FF2B5EF4-FFF2-40B4-BE49-F238E27FC236}">
                <a16:creationId xmlns:a16="http://schemas.microsoft.com/office/drawing/2014/main" id="{C0F6704C-9DFC-E87A-5DA4-7130F7BE5E41}"/>
              </a:ext>
            </a:extLst>
          </p:cNvPr>
          <p:cNvPicPr>
            <a:picLocks noChangeAspect="1"/>
          </p:cNvPicPr>
          <p:nvPr/>
        </p:nvPicPr>
        <p:blipFill>
          <a:blip r:embed="rId8"/>
          <a:stretch>
            <a:fillRect/>
          </a:stretch>
        </p:blipFill>
        <p:spPr>
          <a:xfrm>
            <a:off x="5586117" y="1435828"/>
            <a:ext cx="1019764" cy="1017183"/>
          </a:xfrm>
          <a:prstGeom prst="rect">
            <a:avLst/>
          </a:prstGeom>
        </p:spPr>
      </p:pic>
    </p:spTree>
    <p:extLst>
      <p:ext uri="{BB962C8B-B14F-4D97-AF65-F5344CB8AC3E}">
        <p14:creationId xmlns:p14="http://schemas.microsoft.com/office/powerpoint/2010/main" val="943592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862096-F236-5746-56F0-99106893BC2E}"/>
              </a:ext>
            </a:extLst>
          </p:cNvPr>
          <p:cNvSpPr txBox="1"/>
          <p:nvPr/>
        </p:nvSpPr>
        <p:spPr>
          <a:xfrm>
            <a:off x="5014494" y="204893"/>
            <a:ext cx="2413001" cy="523220"/>
          </a:xfrm>
          <a:prstGeom prst="rect">
            <a:avLst/>
          </a:prstGeom>
          <a:solidFill>
            <a:schemeClr val="accent1">
              <a:lumMod val="75000"/>
            </a:schemeClr>
          </a:solidFill>
        </p:spPr>
        <p:txBody>
          <a:bodyPr wrap="square" rtlCol="0">
            <a:spAutoFit/>
          </a:bodyPr>
          <a:lstStyle/>
          <a:p>
            <a:r>
              <a:rPr lang="en-IN" sz="2800" b="1" dirty="0">
                <a:solidFill>
                  <a:schemeClr val="bg1"/>
                </a:solidFill>
                <a:latin typeface="Monospac821 BT" panose="020B0609020202020204" pitchFamily="49" charset="0"/>
              </a:rPr>
              <a:t>CONCLUSION</a:t>
            </a:r>
          </a:p>
        </p:txBody>
      </p:sp>
      <p:pic>
        <p:nvPicPr>
          <p:cNvPr id="3" name="Graphic 2" descr="An organic corner shape">
            <a:extLst>
              <a:ext uri="{FF2B5EF4-FFF2-40B4-BE49-F238E27FC236}">
                <a16:creationId xmlns:a16="http://schemas.microsoft.com/office/drawing/2014/main" id="{87EDAACD-FAF4-5A58-70EE-64CFBA9F4BF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10266946" y="4886745"/>
            <a:ext cx="1986058" cy="1986058"/>
          </a:xfrm>
          <a:prstGeom prst="rect">
            <a:avLst/>
          </a:prstGeom>
        </p:spPr>
      </p:pic>
      <p:pic>
        <p:nvPicPr>
          <p:cNvPr id="4" name="Graphic 3" descr="An organic corner shape">
            <a:extLst>
              <a:ext uri="{FF2B5EF4-FFF2-40B4-BE49-F238E27FC236}">
                <a16:creationId xmlns:a16="http://schemas.microsoft.com/office/drawing/2014/main" id="{2EDAC3EE-F5DA-9434-FE95-A77BB940A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388" y="-13771"/>
            <a:ext cx="2410535" cy="2410535"/>
          </a:xfrm>
          <a:prstGeom prst="rect">
            <a:avLst/>
          </a:prstGeom>
        </p:spPr>
      </p:pic>
      <p:cxnSp>
        <p:nvCxnSpPr>
          <p:cNvPr id="6" name="Straight Connector 5">
            <a:extLst>
              <a:ext uri="{FF2B5EF4-FFF2-40B4-BE49-F238E27FC236}">
                <a16:creationId xmlns:a16="http://schemas.microsoft.com/office/drawing/2014/main" id="{607482AC-0618-F6BC-CBD6-72CBB8A9F306}"/>
              </a:ext>
            </a:extLst>
          </p:cNvPr>
          <p:cNvCxnSpPr>
            <a:cxnSpLocks/>
          </p:cNvCxnSpPr>
          <p:nvPr/>
        </p:nvCxnSpPr>
        <p:spPr>
          <a:xfrm>
            <a:off x="3601583" y="1540578"/>
            <a:ext cx="0" cy="4736432"/>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2237499D-A7D8-3051-19C4-A624772719E3}"/>
              </a:ext>
            </a:extLst>
          </p:cNvPr>
          <p:cNvCxnSpPr>
            <a:cxnSpLocks/>
          </p:cNvCxnSpPr>
          <p:nvPr/>
        </p:nvCxnSpPr>
        <p:spPr>
          <a:xfrm>
            <a:off x="7170822" y="1540578"/>
            <a:ext cx="0" cy="4748924"/>
          </a:xfrm>
          <a:prstGeom prst="line">
            <a:avLst/>
          </a:prstGeom>
        </p:spPr>
        <p:style>
          <a:lnRef idx="2">
            <a:schemeClr val="accent1"/>
          </a:lnRef>
          <a:fillRef idx="0">
            <a:schemeClr val="accent1"/>
          </a:fillRef>
          <a:effectRef idx="1">
            <a:schemeClr val="accent1"/>
          </a:effectRef>
          <a:fontRef idx="minor">
            <a:schemeClr val="tx1"/>
          </a:fontRef>
        </p:style>
      </p:cxnSp>
      <p:sp>
        <p:nvSpPr>
          <p:cNvPr id="8" name="Rectangle 2">
            <a:extLst>
              <a:ext uri="{FF2B5EF4-FFF2-40B4-BE49-F238E27FC236}">
                <a16:creationId xmlns:a16="http://schemas.microsoft.com/office/drawing/2014/main" id="{21CB18CE-2807-ADAA-90DB-D83CD549EC78}"/>
              </a:ext>
            </a:extLst>
          </p:cNvPr>
          <p:cNvSpPr>
            <a:spLocks noChangeArrowheads="1"/>
          </p:cNvSpPr>
          <p:nvPr/>
        </p:nvSpPr>
        <p:spPr bwMode="auto">
          <a:xfrm>
            <a:off x="638000" y="3057703"/>
            <a:ext cx="286872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Monospac821 BT" panose="020B0609020202020204" pitchFamily="49" charset="0"/>
              </a:rPr>
              <a:t>Developed an AI-based skin disease detection system with hospital recommendation support.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effectLst/>
              <a:latin typeface="Monospac821 BT" panose="020B0609020202020204" pitchFamily="49"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Monospac821 BT" panose="020B0609020202020204" pitchFamily="49" charset="0"/>
              </a:rPr>
              <a:t>The system analyzes skin images and provides disease prediction with confidence scores.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0" i="0" u="none" strike="noStrike" cap="none" normalizeH="0" baseline="0" dirty="0">
              <a:ln>
                <a:noFill/>
              </a:ln>
              <a:effectLst/>
              <a:latin typeface="Monospac821 BT" panose="020B0609020202020204" pitchFamily="49"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effectLst/>
                <a:latin typeface="Monospac821 BT" panose="020B0609020202020204" pitchFamily="49" charset="0"/>
              </a:rPr>
              <a:t>Location-based hospital suggestions help users seek medical assistance quickly.</a:t>
            </a:r>
          </a:p>
        </p:txBody>
      </p:sp>
      <p:sp>
        <p:nvSpPr>
          <p:cNvPr id="9" name="TextBox 8">
            <a:extLst>
              <a:ext uri="{FF2B5EF4-FFF2-40B4-BE49-F238E27FC236}">
                <a16:creationId xmlns:a16="http://schemas.microsoft.com/office/drawing/2014/main" id="{409837AF-1054-F774-0653-C437C93EE47A}"/>
              </a:ext>
            </a:extLst>
          </p:cNvPr>
          <p:cNvSpPr txBox="1"/>
          <p:nvPr/>
        </p:nvSpPr>
        <p:spPr>
          <a:xfrm>
            <a:off x="3616200" y="3138665"/>
            <a:ext cx="3410243" cy="2893100"/>
          </a:xfrm>
          <a:prstGeom prst="rect">
            <a:avLst/>
          </a:prstGeom>
          <a:noFill/>
        </p:spPr>
        <p:txBody>
          <a:bodyPr wrap="square">
            <a:spAutoFit/>
          </a:bodyPr>
          <a:lstStyle/>
          <a:p>
            <a:pPr algn="l">
              <a:buNone/>
            </a:pPr>
            <a:r>
              <a:rPr lang="en-US" sz="1400" i="0" dirty="0">
                <a:effectLst/>
                <a:latin typeface="Monospac821 BT" panose="020B0609020202020204" pitchFamily="49" charset="0"/>
              </a:rPr>
              <a:t>Successfully implemented deep learning for skin disease classification.</a:t>
            </a:r>
          </a:p>
          <a:p>
            <a:pPr algn="l">
              <a:buNone/>
            </a:pPr>
            <a:endParaRPr lang="en-US" sz="1400" dirty="0">
              <a:latin typeface="Monospac821 BT" panose="020B0609020202020204" pitchFamily="49" charset="0"/>
            </a:endParaRPr>
          </a:p>
          <a:p>
            <a:pPr algn="l">
              <a:buNone/>
            </a:pPr>
            <a:endParaRPr lang="en-US" sz="1400" i="0" dirty="0">
              <a:effectLst/>
              <a:latin typeface="Monospac821 BT" panose="020B0609020202020204" pitchFamily="49" charset="0"/>
            </a:endParaRPr>
          </a:p>
          <a:p>
            <a:pPr algn="l">
              <a:buNone/>
            </a:pPr>
            <a:r>
              <a:rPr lang="en-US" sz="1400" i="0" dirty="0">
                <a:effectLst/>
                <a:latin typeface="Monospac821 BT" panose="020B0609020202020204" pitchFamily="49" charset="0"/>
              </a:rPr>
              <a:t>Integrated image processing, prediction, and hospital search in one platform.</a:t>
            </a:r>
          </a:p>
          <a:p>
            <a:pPr algn="l">
              <a:buNone/>
            </a:pPr>
            <a:endParaRPr lang="en-US" sz="1400" dirty="0">
              <a:latin typeface="Monospac821 BT" panose="020B0609020202020204" pitchFamily="49" charset="0"/>
            </a:endParaRPr>
          </a:p>
          <a:p>
            <a:pPr algn="l">
              <a:buNone/>
            </a:pPr>
            <a:endParaRPr lang="en-US" sz="1400" i="0" dirty="0">
              <a:effectLst/>
              <a:latin typeface="Monospac821 BT" panose="020B0609020202020204" pitchFamily="49" charset="0"/>
            </a:endParaRPr>
          </a:p>
          <a:p>
            <a:pPr algn="l">
              <a:buNone/>
            </a:pPr>
            <a:r>
              <a:rPr lang="en-US" sz="1400" i="0" dirty="0">
                <a:effectLst/>
                <a:latin typeface="Monospac821 BT" panose="020B0609020202020204" pitchFamily="49" charset="0"/>
              </a:rPr>
              <a:t>Improved model reliability using data augmentation techniques.</a:t>
            </a:r>
          </a:p>
        </p:txBody>
      </p:sp>
      <p:sp>
        <p:nvSpPr>
          <p:cNvPr id="10" name="TextBox 9">
            <a:extLst>
              <a:ext uri="{FF2B5EF4-FFF2-40B4-BE49-F238E27FC236}">
                <a16:creationId xmlns:a16="http://schemas.microsoft.com/office/drawing/2014/main" id="{1A57C6D2-DACD-F842-53CB-2C0B1EDF7916}"/>
              </a:ext>
            </a:extLst>
          </p:cNvPr>
          <p:cNvSpPr txBox="1"/>
          <p:nvPr/>
        </p:nvSpPr>
        <p:spPr>
          <a:xfrm>
            <a:off x="7427922" y="3106648"/>
            <a:ext cx="3801552" cy="2893100"/>
          </a:xfrm>
          <a:prstGeom prst="rect">
            <a:avLst/>
          </a:prstGeom>
          <a:noFill/>
        </p:spPr>
        <p:txBody>
          <a:bodyPr wrap="square">
            <a:spAutoFit/>
          </a:bodyPr>
          <a:lstStyle/>
          <a:p>
            <a:pPr algn="l">
              <a:buNone/>
            </a:pPr>
            <a:r>
              <a:rPr lang="en-US" sz="1400" b="0" i="0" dirty="0">
                <a:effectLst/>
                <a:latin typeface="Monospac821 BT" panose="020B0609020202020204" pitchFamily="49" charset="0"/>
              </a:rPr>
              <a:t>Gained hands-on experience with AI/ML model development.</a:t>
            </a:r>
          </a:p>
          <a:p>
            <a:pPr algn="l">
              <a:buNone/>
            </a:pPr>
            <a:endParaRPr lang="en-US" sz="1400" b="0" i="0" dirty="0">
              <a:effectLst/>
              <a:latin typeface="Monospac821 BT" panose="020B0609020202020204" pitchFamily="49" charset="0"/>
            </a:endParaRPr>
          </a:p>
          <a:p>
            <a:pPr algn="l">
              <a:buNone/>
            </a:pPr>
            <a:endParaRPr lang="en-US" sz="1400" dirty="0">
              <a:latin typeface="Monospac821 BT" panose="020B0609020202020204" pitchFamily="49" charset="0"/>
            </a:endParaRPr>
          </a:p>
          <a:p>
            <a:pPr algn="l">
              <a:buNone/>
            </a:pPr>
            <a:endParaRPr lang="en-US" sz="1400" b="0" i="0" dirty="0">
              <a:effectLst/>
              <a:latin typeface="Monospac821 BT" panose="020B0609020202020204" pitchFamily="49" charset="0"/>
            </a:endParaRPr>
          </a:p>
          <a:p>
            <a:pPr algn="l">
              <a:buNone/>
            </a:pPr>
            <a:r>
              <a:rPr lang="en-US" sz="1400" b="0" i="0" dirty="0">
                <a:effectLst/>
                <a:latin typeface="Monospac821 BT" panose="020B0609020202020204" pitchFamily="49" charset="0"/>
              </a:rPr>
              <a:t>Learned full-stack integration of AI models with a web application.</a:t>
            </a:r>
          </a:p>
          <a:p>
            <a:pPr algn="l">
              <a:buNone/>
            </a:pPr>
            <a:endParaRPr lang="en-US" sz="1400" dirty="0">
              <a:latin typeface="Monospac821 BT" panose="020B0609020202020204" pitchFamily="49" charset="0"/>
            </a:endParaRPr>
          </a:p>
          <a:p>
            <a:pPr algn="l">
              <a:buNone/>
            </a:pPr>
            <a:endParaRPr lang="en-US" sz="1400" dirty="0">
              <a:latin typeface="Monospac821 BT" panose="020B0609020202020204" pitchFamily="49" charset="0"/>
            </a:endParaRPr>
          </a:p>
          <a:p>
            <a:pPr algn="l">
              <a:buNone/>
            </a:pPr>
            <a:endParaRPr lang="en-US" sz="1400" b="0" i="0" dirty="0">
              <a:effectLst/>
              <a:latin typeface="Monospac821 BT" panose="020B0609020202020204" pitchFamily="49" charset="0"/>
            </a:endParaRPr>
          </a:p>
          <a:p>
            <a:pPr algn="l">
              <a:buNone/>
            </a:pPr>
            <a:r>
              <a:rPr lang="en-US" sz="1400" b="0" i="0" dirty="0">
                <a:effectLst/>
                <a:latin typeface="Monospac821 BT" panose="020B0609020202020204" pitchFamily="49" charset="0"/>
              </a:rPr>
              <a:t>Improved understanding of healthcare-focused AI solutions and real-world challenges.</a:t>
            </a:r>
          </a:p>
        </p:txBody>
      </p:sp>
      <p:sp>
        <p:nvSpPr>
          <p:cNvPr id="11" name="TextBox 10">
            <a:extLst>
              <a:ext uri="{FF2B5EF4-FFF2-40B4-BE49-F238E27FC236}">
                <a16:creationId xmlns:a16="http://schemas.microsoft.com/office/drawing/2014/main" id="{E69FB788-7482-1355-3B1A-F75A3811134D}"/>
              </a:ext>
            </a:extLst>
          </p:cNvPr>
          <p:cNvSpPr txBox="1"/>
          <p:nvPr/>
        </p:nvSpPr>
        <p:spPr>
          <a:xfrm>
            <a:off x="161949" y="2533997"/>
            <a:ext cx="3386986" cy="369332"/>
          </a:xfrm>
          <a:prstGeom prst="rect">
            <a:avLst/>
          </a:prstGeom>
          <a:solidFill>
            <a:schemeClr val="accent1">
              <a:lumMod val="20000"/>
              <a:lumOff val="80000"/>
            </a:schemeClr>
          </a:solidFill>
        </p:spPr>
        <p:txBody>
          <a:bodyPr wrap="square" rtlCol="0">
            <a:spAutoFit/>
          </a:bodyPr>
          <a:lstStyle/>
          <a:p>
            <a:r>
              <a:rPr lang="en-IN" b="1" dirty="0">
                <a:latin typeface="Monospac821 BT" panose="020B0609020202020204" pitchFamily="49" charset="0"/>
              </a:rPr>
              <a:t>OVERALL PROJECT SUMMARY</a:t>
            </a:r>
          </a:p>
        </p:txBody>
      </p:sp>
      <p:sp>
        <p:nvSpPr>
          <p:cNvPr id="12" name="TextBox 11">
            <a:extLst>
              <a:ext uri="{FF2B5EF4-FFF2-40B4-BE49-F238E27FC236}">
                <a16:creationId xmlns:a16="http://schemas.microsoft.com/office/drawing/2014/main" id="{1A00698A-6A23-3873-1854-622C32F8F6AD}"/>
              </a:ext>
            </a:extLst>
          </p:cNvPr>
          <p:cNvSpPr txBox="1"/>
          <p:nvPr/>
        </p:nvSpPr>
        <p:spPr>
          <a:xfrm>
            <a:off x="4179705" y="2534426"/>
            <a:ext cx="2412996" cy="368473"/>
          </a:xfrm>
          <a:prstGeom prst="rect">
            <a:avLst/>
          </a:prstGeom>
          <a:solidFill>
            <a:schemeClr val="accent1">
              <a:lumMod val="20000"/>
              <a:lumOff val="80000"/>
            </a:schemeClr>
          </a:solidFill>
        </p:spPr>
        <p:txBody>
          <a:bodyPr wrap="square" rtlCol="0">
            <a:spAutoFit/>
          </a:bodyPr>
          <a:lstStyle/>
          <a:p>
            <a:r>
              <a:rPr lang="en-IN" b="1" dirty="0">
                <a:latin typeface="Monospac821 BT" panose="020B0609020202020204" pitchFamily="49" charset="0"/>
              </a:rPr>
              <a:t>KEY ACHIEVEMENTS</a:t>
            </a:r>
          </a:p>
        </p:txBody>
      </p:sp>
      <p:sp>
        <p:nvSpPr>
          <p:cNvPr id="13" name="TextBox 12">
            <a:extLst>
              <a:ext uri="{FF2B5EF4-FFF2-40B4-BE49-F238E27FC236}">
                <a16:creationId xmlns:a16="http://schemas.microsoft.com/office/drawing/2014/main" id="{BC447187-E8EE-DAD3-285B-95F1220E5D60}"/>
              </a:ext>
            </a:extLst>
          </p:cNvPr>
          <p:cNvSpPr txBox="1"/>
          <p:nvPr/>
        </p:nvSpPr>
        <p:spPr>
          <a:xfrm>
            <a:off x="8058332" y="2533997"/>
            <a:ext cx="2540732" cy="368473"/>
          </a:xfrm>
          <a:prstGeom prst="rect">
            <a:avLst/>
          </a:prstGeom>
          <a:solidFill>
            <a:schemeClr val="accent1">
              <a:lumMod val="20000"/>
              <a:lumOff val="80000"/>
            </a:schemeClr>
          </a:solidFill>
        </p:spPr>
        <p:txBody>
          <a:bodyPr wrap="square" rtlCol="0">
            <a:spAutoFit/>
          </a:bodyPr>
          <a:lstStyle/>
          <a:p>
            <a:r>
              <a:rPr lang="en-IN" b="1" dirty="0">
                <a:latin typeface="Monospac821 BT" panose="020B0609020202020204" pitchFamily="49" charset="0"/>
              </a:rPr>
              <a:t>LEARNING OUTCOMES</a:t>
            </a:r>
          </a:p>
        </p:txBody>
      </p:sp>
      <p:pic>
        <p:nvPicPr>
          <p:cNvPr id="18" name="Picture 17">
            <a:extLst>
              <a:ext uri="{FF2B5EF4-FFF2-40B4-BE49-F238E27FC236}">
                <a16:creationId xmlns:a16="http://schemas.microsoft.com/office/drawing/2014/main" id="{4EB32C30-4B8B-24D4-78DA-07828B29B4DB}"/>
              </a:ext>
            </a:extLst>
          </p:cNvPr>
          <p:cNvPicPr>
            <a:picLocks noChangeAspect="1"/>
          </p:cNvPicPr>
          <p:nvPr/>
        </p:nvPicPr>
        <p:blipFill>
          <a:blip r:embed="rId4"/>
          <a:stretch>
            <a:fillRect/>
          </a:stretch>
        </p:blipFill>
        <p:spPr>
          <a:xfrm>
            <a:off x="1549228" y="1590304"/>
            <a:ext cx="792919" cy="899113"/>
          </a:xfrm>
          <a:prstGeom prst="rect">
            <a:avLst/>
          </a:prstGeom>
        </p:spPr>
      </p:pic>
      <p:pic>
        <p:nvPicPr>
          <p:cNvPr id="20" name="Picture 19">
            <a:extLst>
              <a:ext uri="{FF2B5EF4-FFF2-40B4-BE49-F238E27FC236}">
                <a16:creationId xmlns:a16="http://schemas.microsoft.com/office/drawing/2014/main" id="{08C75C05-8B97-5255-67B2-F1C95130ED59}"/>
              </a:ext>
            </a:extLst>
          </p:cNvPr>
          <p:cNvPicPr>
            <a:picLocks noChangeAspect="1"/>
          </p:cNvPicPr>
          <p:nvPr/>
        </p:nvPicPr>
        <p:blipFill>
          <a:blip r:embed="rId5"/>
          <a:stretch>
            <a:fillRect/>
          </a:stretch>
        </p:blipFill>
        <p:spPr>
          <a:xfrm>
            <a:off x="4921101" y="1540578"/>
            <a:ext cx="948839" cy="948839"/>
          </a:xfrm>
          <a:prstGeom prst="rect">
            <a:avLst/>
          </a:prstGeom>
        </p:spPr>
      </p:pic>
      <p:pic>
        <p:nvPicPr>
          <p:cNvPr id="22" name="Picture 21">
            <a:extLst>
              <a:ext uri="{FF2B5EF4-FFF2-40B4-BE49-F238E27FC236}">
                <a16:creationId xmlns:a16="http://schemas.microsoft.com/office/drawing/2014/main" id="{E92C2560-AECE-DADF-205C-2CE6B822B5C0}"/>
              </a:ext>
            </a:extLst>
          </p:cNvPr>
          <p:cNvPicPr>
            <a:picLocks noChangeAspect="1"/>
          </p:cNvPicPr>
          <p:nvPr/>
        </p:nvPicPr>
        <p:blipFill>
          <a:blip r:embed="rId6"/>
          <a:stretch>
            <a:fillRect/>
          </a:stretch>
        </p:blipFill>
        <p:spPr>
          <a:xfrm>
            <a:off x="8854278" y="1574991"/>
            <a:ext cx="948840" cy="914426"/>
          </a:xfrm>
          <a:prstGeom prst="rect">
            <a:avLst/>
          </a:prstGeom>
        </p:spPr>
      </p:pic>
    </p:spTree>
    <p:extLst>
      <p:ext uri="{BB962C8B-B14F-4D97-AF65-F5344CB8AC3E}">
        <p14:creationId xmlns:p14="http://schemas.microsoft.com/office/powerpoint/2010/main" val="2104225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alpha val="40000"/>
          </a:schemeClr>
        </a:soli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AAF421C2-2476-C830-6CC8-4C929E89E641}"/>
              </a:ext>
            </a:extLst>
          </p:cNvPr>
          <p:cNvSpPr/>
          <p:nvPr/>
        </p:nvSpPr>
        <p:spPr>
          <a:xfrm>
            <a:off x="0" y="25014"/>
            <a:ext cx="7627716" cy="6819845"/>
          </a:xfrm>
          <a:prstGeom prst="rtTriangle">
            <a:avLst/>
          </a:prstGeom>
          <a:solidFill>
            <a:schemeClr val="accent1">
              <a:alpha val="9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TextBox 2">
            <a:extLst>
              <a:ext uri="{FF2B5EF4-FFF2-40B4-BE49-F238E27FC236}">
                <a16:creationId xmlns:a16="http://schemas.microsoft.com/office/drawing/2014/main" id="{A7C401C1-0459-71AD-5BAB-7E8B7F715B90}"/>
              </a:ext>
            </a:extLst>
          </p:cNvPr>
          <p:cNvSpPr txBox="1"/>
          <p:nvPr/>
        </p:nvSpPr>
        <p:spPr>
          <a:xfrm>
            <a:off x="115745" y="2994052"/>
            <a:ext cx="4178461" cy="1723549"/>
          </a:xfrm>
          <a:prstGeom prst="rect">
            <a:avLst/>
          </a:prstGeom>
          <a:noFill/>
        </p:spPr>
        <p:txBody>
          <a:bodyPr wrap="square" rtlCol="0">
            <a:spAutoFit/>
          </a:bodyPr>
          <a:lstStyle/>
          <a:p>
            <a:r>
              <a:rPr lang="en-IN" sz="8800" dirty="0">
                <a:solidFill>
                  <a:schemeClr val="bg1"/>
                </a:solidFill>
                <a:latin typeface="Monospac821 BT" panose="020B0609020202020204" pitchFamily="49" charset="0"/>
              </a:rPr>
              <a:t>THANK</a:t>
            </a:r>
          </a:p>
          <a:p>
            <a:endParaRPr lang="en-IN" dirty="0"/>
          </a:p>
        </p:txBody>
      </p:sp>
      <p:sp>
        <p:nvSpPr>
          <p:cNvPr id="4" name="TextBox 3">
            <a:extLst>
              <a:ext uri="{FF2B5EF4-FFF2-40B4-BE49-F238E27FC236}">
                <a16:creationId xmlns:a16="http://schemas.microsoft.com/office/drawing/2014/main" id="{7C15DD25-AD2F-06B4-F00B-43F7A036CCCB}"/>
              </a:ext>
            </a:extLst>
          </p:cNvPr>
          <p:cNvSpPr txBox="1"/>
          <p:nvPr/>
        </p:nvSpPr>
        <p:spPr>
          <a:xfrm>
            <a:off x="2575354" y="4364484"/>
            <a:ext cx="3680749" cy="1569660"/>
          </a:xfrm>
          <a:prstGeom prst="rect">
            <a:avLst/>
          </a:prstGeom>
          <a:noFill/>
        </p:spPr>
        <p:txBody>
          <a:bodyPr wrap="square" rtlCol="0">
            <a:spAutoFit/>
          </a:bodyPr>
          <a:lstStyle/>
          <a:p>
            <a:r>
              <a:rPr lang="en-IN" sz="9600" dirty="0">
                <a:solidFill>
                  <a:schemeClr val="bg1"/>
                </a:solidFill>
                <a:latin typeface="Monospac821 BT" panose="020B0609020202020204" pitchFamily="49" charset="0"/>
              </a:rPr>
              <a:t>YOU</a:t>
            </a:r>
          </a:p>
        </p:txBody>
      </p:sp>
      <p:pic>
        <p:nvPicPr>
          <p:cNvPr id="5" name="Graphic 4" descr="A ribbon tied in a bow">
            <a:extLst>
              <a:ext uri="{FF2B5EF4-FFF2-40B4-BE49-F238E27FC236}">
                <a16:creationId xmlns:a16="http://schemas.microsoft.com/office/drawing/2014/main" id="{6ED0644D-6F6E-D371-1D9E-FEB5AB78C9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715712" y="25014"/>
            <a:ext cx="4572000" cy="6819845"/>
          </a:xfrm>
          <a:prstGeom prst="rect">
            <a:avLst/>
          </a:prstGeom>
        </p:spPr>
      </p:pic>
    </p:spTree>
    <p:extLst>
      <p:ext uri="{BB962C8B-B14F-4D97-AF65-F5344CB8AC3E}">
        <p14:creationId xmlns:p14="http://schemas.microsoft.com/office/powerpoint/2010/main" val="8078281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74322FE2464B04385C77E56A7B9AB22" ma:contentTypeVersion="4" ma:contentTypeDescription="Create a new document." ma:contentTypeScope="" ma:versionID="d0585b93c6b6c3582d83ce32b8cc9c1e">
  <xsd:schema xmlns:xsd="http://www.w3.org/2001/XMLSchema" xmlns:xs="http://www.w3.org/2001/XMLSchema" xmlns:p="http://schemas.microsoft.com/office/2006/metadata/properties" xmlns:ns3="46f8daf8-2626-464d-bd87-3f6c33f895c9" targetNamespace="http://schemas.microsoft.com/office/2006/metadata/properties" ma:root="true" ma:fieldsID="f2122b8bb19bc22e69a9e7282829ab68" ns3:_="">
    <xsd:import namespace="46f8daf8-2626-464d-bd87-3f6c33f895c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f8daf8-2626-464d-bd87-3f6c33f895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8E3199E-A14F-4774-A1EF-F64376B05335}">
  <ds:schemaRefs>
    <ds:schemaRef ds:uri="http://schemas.microsoft.com/sharepoint/v3/contenttype/forms"/>
  </ds:schemaRefs>
</ds:datastoreItem>
</file>

<file path=customXml/itemProps2.xml><?xml version="1.0" encoding="utf-8"?>
<ds:datastoreItem xmlns:ds="http://schemas.openxmlformats.org/officeDocument/2006/customXml" ds:itemID="{FE09BAF8-7641-4D1F-B6BB-89FBF3A73B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f8daf8-2626-464d-bd87-3f6c33f895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F60F49C-28CC-4CA1-A02B-47E1C4444629}">
  <ds:schemaRefs>
    <ds:schemaRef ds:uri="http://schemas.microsoft.com/office/2006/metadata/properties"/>
    <ds:schemaRef ds:uri="http://schemas.microsoft.com/office/infopath/2007/PartnerControls"/>
    <ds:schemaRef ds:uri="http://purl.org/dc/terms/"/>
    <ds:schemaRef ds:uri="http://schemas.microsoft.com/office/2006/documentManagement/types"/>
    <ds:schemaRef ds:uri="http://purl.org/dc/elements/1.1/"/>
    <ds:schemaRef ds:uri="http://schemas.openxmlformats.org/package/2006/metadata/core-properties"/>
    <ds:schemaRef ds:uri="46f8daf8-2626-464d-bd87-3f6c33f895c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584</TotalTime>
  <Words>559</Words>
  <Application>Microsoft Office PowerPoint</Application>
  <PresentationFormat>Widescreen</PresentationFormat>
  <Paragraphs>103</Paragraphs>
  <Slides>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Monospac821 BT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Srikanta Kumar Parida</dc:creator>
  <cp:lastModifiedBy>Srikanta Kumar Parida</cp:lastModifiedBy>
  <cp:revision>2</cp:revision>
  <dcterms:created xsi:type="dcterms:W3CDTF">2026-01-16T12:24:16Z</dcterms:created>
  <dcterms:modified xsi:type="dcterms:W3CDTF">2026-01-19T16:30:14Z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0x010100F74322FE2464B04385C77E56A7B9AB22</vt:lpwstr>
  </property>
</Properties>
</file>